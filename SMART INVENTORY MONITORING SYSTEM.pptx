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8"/>
  </p:notesMasterIdLst>
  <p:sldIdLst>
    <p:sldId id="256" r:id="rId2"/>
    <p:sldId id="257" r:id="rId3"/>
    <p:sldId id="258" r:id="rId4"/>
    <p:sldId id="259" r:id="rId5"/>
    <p:sldId id="286" r:id="rId6"/>
    <p:sldId id="280" r:id="rId7"/>
    <p:sldId id="281" r:id="rId8"/>
    <p:sldId id="263" r:id="rId9"/>
    <p:sldId id="266" r:id="rId10"/>
    <p:sldId id="267" r:id="rId11"/>
    <p:sldId id="268" r:id="rId12"/>
    <p:sldId id="283" r:id="rId13"/>
    <p:sldId id="284" r:id="rId14"/>
    <p:sldId id="285" r:id="rId15"/>
    <p:sldId id="279" r:id="rId16"/>
    <p:sldId id="273"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C38362-2636-413A-9170-6EC12E979E2B}" v="48" dt="2026-04-15T03:45:05.6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24" autoAdjust="0"/>
    <p:restoredTop sz="94660"/>
  </p:normalViewPr>
  <p:slideViewPr>
    <p:cSldViewPr>
      <p:cViewPr varScale="1">
        <p:scale>
          <a:sx n="43" d="100"/>
          <a:sy n="43" d="100"/>
        </p:scale>
        <p:origin x="67" y="81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21BAFE0-50F4-4748-8BF0-B60CA2CA7C2A}" type="datetime3">
              <a:rPr lang="en-US" smtClean="0"/>
              <a:t>6 May 2026</a:t>
            </a:fld>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3451B7D-A345-4862-BF1D-428F0ACE7489}" type="datetime3">
              <a:rPr lang="en-US" smtClean="0"/>
              <a:t>6 May 2026</a:t>
            </a:fld>
            <a:endParaRPr/>
          </a:p>
        </p:txBody>
      </p:sp>
      <p:sp>
        <p:nvSpPr>
          <p:cNvPr id="25" name="Google Shape;2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E3A6F213-D244-4885-ADDD-EF505C8692E5}" type="datetime3">
              <a:rPr lang="en-US" smtClean="0"/>
              <a:t>6 May 2026</a:t>
            </a:fld>
            <a:endParaRPr/>
          </a:p>
        </p:txBody>
      </p:sp>
      <p:sp>
        <p:nvSpPr>
          <p:cNvPr id="31" name="Google Shape;3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4628BE5-9B5B-4FB9-812F-234178098DA8}" type="datetime3">
              <a:rPr lang="en-US" smtClean="0"/>
              <a:t>6 May 2026</a:t>
            </a:fld>
            <a:endParaRPr/>
          </a:p>
        </p:txBody>
      </p:sp>
      <p:sp>
        <p:nvSpPr>
          <p:cNvPr id="38" name="Google Shape;3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FCBFD607-FF68-41EE-94C9-18097ECEE5F5}" type="datetime3">
              <a:rPr lang="en-US" smtClean="0"/>
              <a:t>6 May 2026</a:t>
            </a:fld>
            <a:endParaRPr/>
          </a:p>
        </p:txBody>
      </p:sp>
      <p:sp>
        <p:nvSpPr>
          <p:cNvPr id="47" name="Google Shape;4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189090A-98DB-45F6-82DF-D3D19E16DB96}" type="datetime3">
              <a:rPr lang="en-US" smtClean="0"/>
              <a:t>6 May 2026</a:t>
            </a:fld>
            <a:endParaRPr/>
          </a:p>
        </p:txBody>
      </p:sp>
      <p:sp>
        <p:nvSpPr>
          <p:cNvPr id="52" name="Google Shape;5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1901981-9929-439E-A5BB-7441659FA271}" type="datetime3">
              <a:rPr lang="en-US" smtClean="0"/>
              <a:t>6 May 2026</a:t>
            </a:fld>
            <a:endParaRPr/>
          </a:p>
        </p:txBody>
      </p:sp>
      <p:sp>
        <p:nvSpPr>
          <p:cNvPr id="59" name="Google Shape;5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5183188" y="987425"/>
            <a:ext cx="6172200" cy="4873625"/>
          </a:xfrm>
          <a:prstGeom prst="rect">
            <a:avLst/>
          </a:prstGeom>
          <a:noFill/>
          <a:ln>
            <a:noFill/>
          </a:ln>
        </p:spPr>
      </p:sp>
      <p:sp>
        <p:nvSpPr>
          <p:cNvPr id="64" name="Google Shape;64;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AB54385B-8F38-4402-B7DC-6555C457C9A9}" type="datetime3">
              <a:rPr lang="en-US" smtClean="0"/>
              <a:t>6 May 2026</a:t>
            </a:fld>
            <a:endParaRPr/>
          </a:p>
        </p:txBody>
      </p:sp>
      <p:sp>
        <p:nvSpPr>
          <p:cNvPr id="66" name="Google Shape;6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7F5294F-1686-4539-B301-CE669A1A5CB8}" type="datetime3">
              <a:rPr lang="en-US" smtClean="0"/>
              <a:t>6 May 2026</a:t>
            </a:fld>
            <a:endParaRPr/>
          </a:p>
        </p:txBody>
      </p:sp>
      <p:sp>
        <p:nvSpPr>
          <p:cNvPr id="72" name="Google Shape;7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E2E39C6-05BC-4180-9BF6-37882EF48484}" type="datetime3">
              <a:rPr lang="en-US" smtClean="0"/>
              <a:t>6 May 2026</a:t>
            </a:fld>
            <a:endParaRPr/>
          </a:p>
        </p:txBody>
      </p:sp>
      <p:sp>
        <p:nvSpPr>
          <p:cNvPr id="78" name="Google Shape;7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fld id="{8E675D70-BD93-4530-A1BB-4754AE6B50C0}" type="datetime3">
              <a:rPr lang="en-US" smtClean="0"/>
              <a:t>6 May 2026</a:t>
            </a:fld>
            <a:endParaRPr/>
          </a:p>
        </p:txBody>
      </p:sp>
      <p:sp>
        <p:nvSpPr>
          <p:cNvPr id="9" name="Google Shape;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ijraset.com/research-paper/rfid-based-inventory-management-system?utm_source=chatgpt.com" TargetMode="External"/><Relationship Id="rId2" Type="http://schemas.openxmlformats.org/officeDocument/2006/relationships/hyperlink" Target="https://www.researchgate.net/publication/334768454_IoT_Based_Smart_Inventory_Management_System_for_Kitchen_Using_Weight_Sensors_LDR_LED_Arduino_Mega_and_NodeMCU_ESP8266_Wi-Fi_Module_with_Website_and_App?utm_source=chatgpt.com" TargetMode="External"/><Relationship Id="rId1" Type="http://schemas.openxmlformats.org/officeDocument/2006/relationships/slideLayout" Target="../slideLayouts/slideLayout1.xml"/><Relationship Id="rId4" Type="http://schemas.openxmlformats.org/officeDocument/2006/relationships/hyperlink" Target="https://journalcenter.org/index.php/jupsim/article/view/5935?utm_source=chatgpt.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Coursera%20getting%20started%20with%20microsoft%20excel.pdf"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srcRect/>
          <a:stretch>
            <a:fillRect/>
          </a:stretch>
        </p:blipFill>
        <p:spPr>
          <a:xfrm>
            <a:off x="2094731" y="313289"/>
            <a:ext cx="7510923" cy="1662995"/>
          </a:xfrm>
          <a:prstGeom prst="rect">
            <a:avLst/>
          </a:prstGeom>
          <a:noFill/>
          <a:ln>
            <a:noFill/>
          </a:ln>
        </p:spPr>
      </p:pic>
      <p:sp>
        <p:nvSpPr>
          <p:cNvPr id="85" name="Google Shape;85;p1"/>
          <p:cNvSpPr txBox="1"/>
          <p:nvPr/>
        </p:nvSpPr>
        <p:spPr>
          <a:xfrm>
            <a:off x="1172150" y="2151850"/>
            <a:ext cx="9622200" cy="148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600" b="1">
                <a:solidFill>
                  <a:schemeClr val="dk1"/>
                </a:solidFill>
                <a:latin typeface="Times New Roman" panose="02020603050405020304"/>
                <a:ea typeface="Times New Roman" panose="02020603050405020304"/>
                <a:cs typeface="Times New Roman" panose="02020603050405020304"/>
                <a:sym typeface="Times New Roman" panose="02020603050405020304"/>
              </a:rPr>
              <a:t>ECB1332- DESIGN PROJECT</a:t>
            </a:r>
            <a:endParaRPr sz="26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600" b="1">
                <a:solidFill>
                  <a:srgbClr val="FF0000"/>
                </a:solidFill>
                <a:latin typeface="Times New Roman" panose="02020603050405020304"/>
                <a:ea typeface="Times New Roman" panose="02020603050405020304"/>
                <a:cs typeface="Times New Roman" panose="02020603050405020304"/>
                <a:sym typeface="Times New Roman" panose="02020603050405020304"/>
              </a:rPr>
              <a:t>SMART INVENTORY MONITORING SYSTEM</a:t>
            </a:r>
            <a:endParaRPr sz="2600" b="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600" b="1">
                <a:solidFill>
                  <a:srgbClr val="0B5394"/>
                </a:solidFill>
                <a:latin typeface="Times New Roman" panose="02020603050405020304"/>
                <a:ea typeface="Times New Roman" panose="02020603050405020304"/>
                <a:cs typeface="Times New Roman" panose="02020603050405020304"/>
                <a:sym typeface="Times New Roman" panose="02020603050405020304"/>
              </a:rPr>
              <a:t>ELECTRONICS AND COMMUNICATION ENGINEERING</a:t>
            </a:r>
            <a:endParaRPr sz="2600" b="1">
              <a:solidFill>
                <a:srgbClr val="0B539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7" name="Google Shape;87;p1"/>
          <p:cNvSpPr txBox="1"/>
          <p:nvPr/>
        </p:nvSpPr>
        <p:spPr>
          <a:xfrm>
            <a:off x="6384290" y="4437380"/>
            <a:ext cx="5761355" cy="23622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US" sz="1800" b="1" u="sng" dirty="0">
                <a:solidFill>
                  <a:schemeClr val="dk1"/>
                </a:solidFill>
                <a:latin typeface="Times New Roman" pitchFamily="18" charset="0"/>
                <a:ea typeface="Times New Roman" panose="02020603050405020304"/>
                <a:cs typeface="Times New Roman" pitchFamily="18" charset="0"/>
                <a:sym typeface="Times New Roman" panose="02020603050405020304"/>
              </a:rPr>
              <a:t>TEAM MEMBERS:</a:t>
            </a:r>
            <a:endParaRPr sz="1800" b="1" u="sng" dirty="0">
              <a:solidFill>
                <a:schemeClr val="dk1"/>
              </a:solidFill>
              <a:latin typeface="Times New Roman" pitchFamily="18" charset="0"/>
              <a:ea typeface="Times New Roman" panose="02020603050405020304"/>
              <a:cs typeface="Times New Roman" pitchFamily="18" charset="0"/>
              <a:sym typeface="Times New Roman" panose="02020603050405020304"/>
            </a:endParaRPr>
          </a:p>
          <a:p>
            <a:pPr marL="0" lvl="0" indent="0" algn="just" rtl="0">
              <a:lnSpc>
                <a:spcPct val="150000"/>
              </a:lnSpc>
              <a:spcBef>
                <a:spcPts val="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SHAHIN ASHIKA K                        (8115U23EC097)</a:t>
            </a: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SHRUTHI R                                      (8115U23EC102)</a:t>
            </a: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SRI AMIRTHA VARSHINI S V      (8115U23EC108)</a:t>
            </a: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SRI VIDHYA B                                (8115U23EC110)</a:t>
            </a: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Date Placeholder 5"/>
          <p:cNvSpPr>
            <a:spLocks noGrp="1"/>
          </p:cNvSpPr>
          <p:nvPr>
            <p:ph type="dt" idx="10"/>
          </p:nvPr>
        </p:nvSpPr>
        <p:spPr/>
        <p:txBody>
          <a:bodyPr/>
          <a:lstStyle/>
          <a:p>
            <a:r>
              <a:rPr lang="en-US" dirty="0">
                <a:latin typeface="Times New Roman" pitchFamily="18" charset="0"/>
                <a:cs typeface="Times New Roman" pitchFamily="18" charset="0"/>
              </a:rPr>
              <a:t>6 may2026</a:t>
            </a:r>
          </a:p>
        </p:txBody>
      </p:sp>
      <p:sp>
        <p:nvSpPr>
          <p:cNvPr id="7" name="Slide Number Placeholder 6"/>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a:t>
            </a:fld>
            <a:endParaRPr lang="en-US"/>
          </a:p>
        </p:txBody>
      </p:sp>
      <p:sp>
        <p:nvSpPr>
          <p:cNvPr id="3" name="TextBox 2">
            <a:extLst>
              <a:ext uri="{FF2B5EF4-FFF2-40B4-BE49-F238E27FC236}">
                <a16:creationId xmlns:a16="http://schemas.microsoft.com/office/drawing/2014/main" id="{57BA3966-A71B-B415-7FE0-1831954F6917}"/>
              </a:ext>
            </a:extLst>
          </p:cNvPr>
          <p:cNvSpPr txBox="1"/>
          <p:nvPr/>
        </p:nvSpPr>
        <p:spPr>
          <a:xfrm>
            <a:off x="1048064" y="4458340"/>
            <a:ext cx="6096000" cy="1281313"/>
          </a:xfrm>
          <a:prstGeom prst="rect">
            <a:avLst/>
          </a:prstGeom>
          <a:noFill/>
        </p:spPr>
        <p:txBody>
          <a:bodyPr wrap="square">
            <a:spAutoFit/>
          </a:bodyPr>
          <a:lstStyle/>
          <a:p>
            <a:pPr>
              <a:lnSpc>
                <a:spcPct val="110000"/>
              </a:lnSpc>
            </a:pPr>
            <a:r>
              <a:rPr lang="en-IN" sz="2400" b="1" dirty="0">
                <a:latin typeface="Times New Roman" panose="02020603050405020304" pitchFamily="18" charset="0"/>
              </a:rPr>
              <a:t>GUIDED BY</a:t>
            </a:r>
          </a:p>
          <a:p>
            <a:pPr>
              <a:lnSpc>
                <a:spcPct val="110000"/>
              </a:lnSpc>
            </a:pPr>
            <a:r>
              <a:rPr lang="en-US" sz="2400" b="1" dirty="0" err="1">
                <a:latin typeface="Times New Roman" panose="02020603050405020304" pitchFamily="18" charset="0"/>
              </a:rPr>
              <a:t>Dr.N.RADHA,Ph.D</a:t>
            </a:r>
            <a:r>
              <a:rPr lang="en-US" sz="2400" b="1" dirty="0">
                <a:latin typeface="Times New Roman" panose="02020603050405020304" pitchFamily="18" charset="0"/>
              </a:rPr>
              <a:t>.,</a:t>
            </a:r>
          </a:p>
          <a:p>
            <a:pPr>
              <a:lnSpc>
                <a:spcPct val="110000"/>
              </a:lnSpc>
            </a:pPr>
            <a:r>
              <a:rPr lang="en-US" sz="2400" dirty="0">
                <a:latin typeface="Times New Roman" panose="02020603050405020304" pitchFamily="18" charset="0"/>
              </a:rPr>
              <a:t>ASSISTANT PROFESSOR,ECE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p:nvPr/>
        </p:nvSpPr>
        <p:spPr>
          <a:xfrm>
            <a:off x="600075" y="908685"/>
            <a:ext cx="9586595" cy="5617845"/>
          </a:xfrm>
          <a:prstGeom prst="rect">
            <a:avLst/>
          </a:prstGeom>
          <a:noFill/>
          <a:ln>
            <a:noFill/>
          </a:ln>
        </p:spPr>
        <p:txBody>
          <a:bodyPr spcFirstLastPara="1" wrap="square" lIns="91425" tIns="45700" rIns="91425" bIns="45700" anchor="t" anchorCtr="0">
            <a:noAutofit/>
          </a:bodyPr>
          <a:lstStyle/>
          <a:p>
            <a:pPr marL="285750" indent="-285750" eaLnBrk="1" latinLnBrk="0" hangingPunct="1">
              <a:spcBef>
                <a:spcPts val="800"/>
              </a:spcBef>
              <a:spcAft>
                <a:spcPts val="800"/>
              </a:spcAft>
              <a:buClr>
                <a:srgbClr val="0D0D0D"/>
              </a:buClr>
              <a:buFont typeface="Arial" panose="020B0604020202020204" pitchFamily="34" charset="0"/>
              <a:buChar char="•"/>
            </a:pPr>
            <a:r>
              <a:rPr lang="en-IN" altLang="en-US" sz="1800" dirty="0">
                <a:latin typeface="Times New Roman" panose="02020603050405020304" pitchFamily="18" charset="0"/>
              </a:rPr>
              <a:t>ABSTRACT</a:t>
            </a:r>
          </a:p>
          <a:p>
            <a:pPr marL="285750" indent="-285750" eaLnBrk="1" latinLnBrk="0" hangingPunct="1">
              <a:spcBef>
                <a:spcPts val="800"/>
              </a:spcBef>
              <a:spcAft>
                <a:spcPts val="800"/>
              </a:spcAft>
              <a:buClr>
                <a:srgbClr val="0D0D0D"/>
              </a:buClr>
              <a:buFont typeface="Arial" panose="020B0604020202020204" pitchFamily="34" charset="0"/>
              <a:buChar char="•"/>
            </a:pPr>
            <a:r>
              <a:rPr lang="en-IN" altLang="en-US" sz="1800" dirty="0">
                <a:latin typeface="Times New Roman" panose="02020603050405020304" pitchFamily="18" charset="0"/>
              </a:rPr>
              <a:t>INTRODUCTION</a:t>
            </a:r>
            <a:endParaRPr lang="en-US" altLang="en-US" sz="1800" dirty="0">
              <a:latin typeface="Times New Roman" panose="02020603050405020304" pitchFamily="18" charset="0"/>
            </a:endParaRPr>
          </a:p>
          <a:p>
            <a:pPr marL="285750" indent="-285750" eaLnBrk="1" latinLnBrk="0" hangingPunct="1">
              <a:spcBef>
                <a:spcPts val="800"/>
              </a:spcBef>
              <a:spcAft>
                <a:spcPts val="800"/>
              </a:spcAft>
              <a:buClr>
                <a:srgbClr val="0D0D0D"/>
              </a:buClr>
              <a:buFont typeface="Arial" panose="020B0604020202020204" pitchFamily="34" charset="0"/>
              <a:buChar char="•"/>
            </a:pPr>
            <a:r>
              <a:rPr lang="en-IN" altLang="en-US" sz="1800" dirty="0">
                <a:latin typeface="Times New Roman" panose="02020603050405020304" pitchFamily="18" charset="0"/>
              </a:rPr>
              <a:t>LITERATURE SURVEY/RELATED WORK</a:t>
            </a:r>
            <a:endParaRPr lang="en-US" altLang="en-US" sz="1800" dirty="0">
              <a:latin typeface="Times New Roman" panose="02020603050405020304" pitchFamily="18" charset="0"/>
            </a:endParaRPr>
          </a:p>
          <a:p>
            <a:pPr marL="285750" indent="-285750" eaLnBrk="1" latinLnBrk="0" hangingPunct="1">
              <a:spcBef>
                <a:spcPts val="800"/>
              </a:spcBef>
              <a:spcAft>
                <a:spcPts val="800"/>
              </a:spcAft>
              <a:buClr>
                <a:srgbClr val="0D0D0D"/>
              </a:buClr>
              <a:buFont typeface="Arial" panose="020B0604020202020204" pitchFamily="34" charset="0"/>
              <a:buChar char="•"/>
            </a:pPr>
            <a:r>
              <a:rPr lang="en-IN" altLang="en-US" sz="1800" dirty="0">
                <a:latin typeface="Times New Roman" panose="02020603050405020304" pitchFamily="18" charset="0"/>
              </a:rPr>
              <a:t>EXISTING SYSTEM</a:t>
            </a:r>
          </a:p>
          <a:p>
            <a:pPr marL="285750" indent="-285750" eaLnBrk="1" latinLnBrk="0" hangingPunct="1">
              <a:spcBef>
                <a:spcPts val="800"/>
              </a:spcBef>
              <a:spcAft>
                <a:spcPts val="800"/>
              </a:spcAft>
              <a:buClr>
                <a:srgbClr val="0D0D0D"/>
              </a:buClr>
              <a:buFont typeface="Arial" panose="020B0604020202020204" pitchFamily="34" charset="0"/>
              <a:buChar char="•"/>
            </a:pPr>
            <a:r>
              <a:rPr lang="en-US" altLang="en-US" sz="1800" dirty="0">
                <a:latin typeface="Times New Roman" panose="02020603050405020304" pitchFamily="18" charset="0"/>
              </a:rPr>
              <a:t>CHALLENGES IN EXISTING SYSTEM</a:t>
            </a:r>
          </a:p>
          <a:p>
            <a:pPr marL="285750" indent="-285750" eaLnBrk="1" latinLnBrk="0" hangingPunct="1">
              <a:spcBef>
                <a:spcPts val="800"/>
              </a:spcBef>
              <a:spcAft>
                <a:spcPts val="800"/>
              </a:spcAft>
              <a:buClr>
                <a:srgbClr val="0D0D0D"/>
              </a:buClr>
              <a:buFont typeface="Arial" panose="020B0604020202020204" pitchFamily="34" charset="0"/>
              <a:buChar char="•"/>
            </a:pPr>
            <a:r>
              <a:rPr lang="en-IN" altLang="en-US" sz="1800" dirty="0">
                <a:latin typeface="Times New Roman" panose="02020603050405020304" pitchFamily="18" charset="0"/>
              </a:rPr>
              <a:t>PROPOSED SYSTEM</a:t>
            </a:r>
          </a:p>
          <a:p>
            <a:pPr marL="285750" indent="-285750" eaLnBrk="1" latinLnBrk="0" hangingPunct="1">
              <a:spcBef>
                <a:spcPts val="800"/>
              </a:spcBef>
              <a:spcAft>
                <a:spcPts val="800"/>
              </a:spcAft>
              <a:buClr>
                <a:srgbClr val="0D0D0D"/>
              </a:buClr>
              <a:buFont typeface="Arial" panose="020B0604020202020204" pitchFamily="34" charset="0"/>
              <a:buChar char="•"/>
            </a:pPr>
            <a:r>
              <a:rPr lang="en-US" altLang="en-US" sz="1800" dirty="0">
                <a:latin typeface="Times New Roman" panose="02020603050405020304" pitchFamily="18" charset="0"/>
              </a:rPr>
              <a:t>BLOCK DIAGRAM</a:t>
            </a:r>
          </a:p>
          <a:p>
            <a:pPr marL="285750" indent="-285750" eaLnBrk="1" latinLnBrk="0" hangingPunct="1">
              <a:spcBef>
                <a:spcPts val="800"/>
              </a:spcBef>
              <a:spcAft>
                <a:spcPts val="800"/>
              </a:spcAft>
              <a:buClr>
                <a:srgbClr val="0D0D0D"/>
              </a:buClr>
              <a:buFont typeface="Arial" panose="020B0604020202020204" pitchFamily="34" charset="0"/>
              <a:buChar char="•"/>
            </a:pPr>
            <a:r>
              <a:rPr lang="en-IN" altLang="en-US" sz="1800" dirty="0">
                <a:latin typeface="Times New Roman" panose="02020603050405020304" pitchFamily="18" charset="0"/>
              </a:rPr>
              <a:t>SOFTWARE/HARDWARE REQUIREMENTS</a:t>
            </a:r>
          </a:p>
          <a:p>
            <a:pPr marL="285750" indent="-285750" eaLnBrk="1" latinLnBrk="0" hangingPunct="1">
              <a:spcBef>
                <a:spcPts val="800"/>
              </a:spcBef>
              <a:spcAft>
                <a:spcPts val="800"/>
              </a:spcAft>
              <a:buClr>
                <a:srgbClr val="0D0D0D"/>
              </a:buClr>
              <a:buFont typeface="Arial" panose="020B0604020202020204" pitchFamily="34" charset="0"/>
              <a:buChar char="•"/>
            </a:pPr>
            <a:r>
              <a:rPr lang="en-US" altLang="en-US" sz="1800" dirty="0">
                <a:latin typeface="Times New Roman" panose="02020603050405020304" pitchFamily="18" charset="0"/>
              </a:rPr>
              <a:t>RESULTS AND DISCUSSION</a:t>
            </a:r>
          </a:p>
          <a:p>
            <a:pPr marL="285750" indent="-285750" eaLnBrk="1" latinLnBrk="0" hangingPunct="1">
              <a:spcBef>
                <a:spcPts val="800"/>
              </a:spcBef>
              <a:spcAft>
                <a:spcPts val="800"/>
              </a:spcAft>
              <a:buClr>
                <a:srgbClr val="0D0D0D"/>
              </a:buClr>
              <a:buFont typeface="Arial" panose="020B0604020202020204" pitchFamily="34" charset="0"/>
              <a:buChar char="•"/>
            </a:pPr>
            <a:r>
              <a:rPr lang="en-US" altLang="en-US" sz="1800" dirty="0">
                <a:latin typeface="Times New Roman" panose="02020603050405020304" pitchFamily="18" charset="0"/>
              </a:rPr>
              <a:t>ADVANTAGES</a:t>
            </a:r>
          </a:p>
          <a:p>
            <a:pPr marL="285750" indent="-285750" eaLnBrk="1" latinLnBrk="0" hangingPunct="1">
              <a:spcBef>
                <a:spcPts val="800"/>
              </a:spcBef>
              <a:spcAft>
                <a:spcPts val="800"/>
              </a:spcAft>
              <a:buClr>
                <a:srgbClr val="0D0D0D"/>
              </a:buClr>
              <a:buFont typeface="Arial" panose="020B0604020202020204" pitchFamily="34" charset="0"/>
              <a:buChar char="•"/>
            </a:pPr>
            <a:r>
              <a:rPr lang="en-US" altLang="en-US" sz="1800" dirty="0">
                <a:latin typeface="Times New Roman" panose="02020603050405020304" pitchFamily="18" charset="0"/>
              </a:rPr>
              <a:t>APPLICATIONS</a:t>
            </a:r>
          </a:p>
          <a:p>
            <a:pPr marL="285750" indent="-285750" eaLnBrk="1" latinLnBrk="0" hangingPunct="1">
              <a:spcBef>
                <a:spcPts val="800"/>
              </a:spcBef>
              <a:spcAft>
                <a:spcPts val="800"/>
              </a:spcAft>
              <a:buClr>
                <a:srgbClr val="0D0D0D"/>
              </a:buClr>
              <a:buFont typeface="Arial" panose="020B0604020202020204" pitchFamily="34" charset="0"/>
              <a:buChar char="•"/>
            </a:pPr>
            <a:r>
              <a:rPr lang="en-US" altLang="en-US" sz="1800" dirty="0">
                <a:latin typeface="Times New Roman" panose="02020603050405020304" pitchFamily="18" charset="0"/>
              </a:rPr>
              <a:t>CONCLUSION &amp; FUTURE SCOPE</a:t>
            </a:r>
          </a:p>
          <a:p>
            <a:pPr marL="0" marR="0" lvl="0" indent="0" algn="l" rtl="0">
              <a:spcBef>
                <a:spcPts val="800"/>
              </a:spcBef>
              <a:spcAft>
                <a:spcPts val="0"/>
              </a:spcAft>
              <a:buNone/>
            </a:pPr>
            <a:endParaRPr sz="1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3" name="Google Shape;93;p2"/>
          <p:cNvSpPr txBox="1"/>
          <p:nvPr/>
        </p:nvSpPr>
        <p:spPr>
          <a:xfrm>
            <a:off x="4041058" y="235974"/>
            <a:ext cx="566338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FF0000"/>
                </a:solidFill>
                <a:latin typeface="Times New Roman" panose="02020603050405020304"/>
                <a:ea typeface="Times New Roman" panose="02020603050405020304"/>
                <a:cs typeface="Times New Roman" panose="02020603050405020304"/>
                <a:sym typeface="Times New Roman" panose="02020603050405020304"/>
              </a:rPr>
              <a:t>CONTENTS</a:t>
            </a:r>
            <a:endParaRPr sz="3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 name="Date Placeholder 3"/>
          <p:cNvSpPr>
            <a:spLocks noGrp="1"/>
          </p:cNvSpPr>
          <p:nvPr>
            <p:ph type="dt" idx="10"/>
          </p:nvPr>
        </p:nvSpPr>
        <p:spPr/>
        <p:txBody>
          <a:bodyPr/>
          <a:lstStyle/>
          <a:p>
            <a:fld id="{B9BC7A91-AB5B-49A3-9A32-56D3BCC9C54E}"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9" name="Google Shape;99;p3"/>
          <p:cNvSpPr txBox="1"/>
          <p:nvPr/>
        </p:nvSpPr>
        <p:spPr>
          <a:xfrm>
            <a:off x="1435510" y="196645"/>
            <a:ext cx="9497961" cy="646331"/>
          </a:xfrm>
          <a:prstGeom prst="rect">
            <a:avLst/>
          </a:prstGeom>
          <a:noFill/>
          <a:ln>
            <a:noFill/>
          </a:ln>
        </p:spPr>
        <p:txBody>
          <a:bodyPr spcFirstLastPara="1" wrap="square" lIns="91425" tIns="45700" rIns="91425" bIns="45700" anchor="t" anchorCtr="0">
            <a:spAutoFit/>
          </a:bodyPr>
          <a:lstStyle/>
          <a:p>
            <a:pPr marL="234950" marR="0" lvl="0" indent="-234950" algn="l" rtl="0">
              <a:spcBef>
                <a:spcPts val="0"/>
              </a:spcBef>
              <a:spcAft>
                <a:spcPts val="0"/>
              </a:spcAft>
              <a:buNone/>
            </a:pPr>
            <a:r>
              <a:rPr lang="en-US" sz="3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ABSTRACT</a:t>
            </a:r>
          </a:p>
        </p:txBody>
      </p:sp>
      <p:sp>
        <p:nvSpPr>
          <p:cNvPr id="4" name="Date Placeholder 3"/>
          <p:cNvSpPr>
            <a:spLocks noGrp="1"/>
          </p:cNvSpPr>
          <p:nvPr>
            <p:ph type="dt" idx="10"/>
          </p:nvPr>
        </p:nvSpPr>
        <p:spPr/>
        <p:txBody>
          <a:bodyPr/>
          <a:lstStyle/>
          <a:p>
            <a:fld id="{0809FD18-E09B-4410-B475-FE75B722548B}"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
        <p:nvSpPr>
          <p:cNvPr id="13" name="TextBox 12">
            <a:extLst>
              <a:ext uri="{FF2B5EF4-FFF2-40B4-BE49-F238E27FC236}">
                <a16:creationId xmlns:a16="http://schemas.microsoft.com/office/drawing/2014/main" id="{98874897-F80C-4C05-DF3D-320154064813}"/>
              </a:ext>
            </a:extLst>
          </p:cNvPr>
          <p:cNvSpPr txBox="1"/>
          <p:nvPr/>
        </p:nvSpPr>
        <p:spPr>
          <a:xfrm>
            <a:off x="623392" y="1268760"/>
            <a:ext cx="10945216" cy="4922951"/>
          </a:xfrm>
          <a:prstGeom prst="rect">
            <a:avLst/>
          </a:prstGeom>
          <a:noFill/>
        </p:spPr>
        <p:txBody>
          <a:bodyPr wrap="square" rtlCol="0">
            <a:spAutoFit/>
          </a:bodyPr>
          <a:lstStyle/>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Manual inventory monitoring in shops, warehouses, hospitals, and industries is time-consuming, error-prone, and increases the risk of stock shortages, overstocking, and mismanagement. </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Smart Inventory Monitoring System</a:t>
            </a:r>
            <a:r>
              <a:rPr lang="en-US" sz="2000" dirty="0">
                <a:latin typeface="Times New Roman" panose="02020603050405020304" pitchFamily="18" charset="0"/>
                <a:cs typeface="Times New Roman" panose="02020603050405020304" pitchFamily="18" charset="0"/>
              </a:rPr>
              <a:t> automates stock measurement using a load cell–based weight sensing approach and identifies products using RFID technology to ensure accurate tracking. Abnormal conditions such as unauthorized removal or replacement are detected by identifying sudden unexplained changes in weight, without using any additional security sensors. </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Low stock levels are monitored in real time, and alert notifications are generated to ensure timely restocking and efficient inventory control.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p:nvPr/>
        </p:nvSpPr>
        <p:spPr>
          <a:xfrm>
            <a:off x="1268361" y="263057"/>
            <a:ext cx="9655278" cy="646331"/>
          </a:xfrm>
          <a:prstGeom prst="rect">
            <a:avLst/>
          </a:prstGeom>
          <a:noFill/>
          <a:ln>
            <a:noFill/>
          </a:ln>
        </p:spPr>
        <p:txBody>
          <a:bodyPr spcFirstLastPara="1" wrap="square" lIns="91425" tIns="45700" rIns="91425" bIns="45700" anchor="t" anchorCtr="0">
            <a:spAutoFit/>
          </a:bodyPr>
          <a:lstStyle/>
          <a:p>
            <a:pPr marL="234950" marR="0" lvl="0" indent="-234950" algn="l" rtl="0">
              <a:spcBef>
                <a:spcPts val="0"/>
              </a:spcBef>
              <a:spcAft>
                <a:spcPts val="0"/>
              </a:spcAft>
              <a:buNone/>
            </a:pPr>
            <a:r>
              <a:rPr lang="en-US" sz="3600" b="1"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                        INTRODUCTION</a:t>
            </a:r>
            <a:endParaRPr sz="3600" b="1"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5" name="Google Shape;105;p4"/>
          <p:cNvSpPr txBox="1"/>
          <p:nvPr/>
        </p:nvSpPr>
        <p:spPr>
          <a:xfrm>
            <a:off x="567202" y="1340768"/>
            <a:ext cx="10815484" cy="5755381"/>
          </a:xfrm>
          <a:prstGeom prst="rect">
            <a:avLst/>
          </a:prstGeom>
          <a:noFill/>
          <a:ln>
            <a:noFill/>
          </a:ln>
        </p:spPr>
        <p:txBody>
          <a:bodyPr spcFirstLastPara="1" wrap="square" lIns="91425" tIns="45700" rIns="91425" bIns="45700" anchor="t" anchorCtr="0">
            <a:spAutoFit/>
          </a:bodyPr>
          <a:lstStyle/>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Inventory management is an essential function in sectors such as shops, warehouses, hospitals, and industries, where accurate stock tracking is crucial for efficient operations.</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Conventional inventory systems depend entirely on manual checking and barcode scanning, which are unreliable and time-consuming, especially in large-scale environments.</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Smart Inventory Monitoring System</a:t>
            </a:r>
            <a:r>
              <a:rPr lang="en-US" sz="2000" dirty="0">
                <a:latin typeface="Times New Roman" panose="02020603050405020304" pitchFamily="18" charset="0"/>
                <a:cs typeface="Times New Roman" panose="02020603050405020304" pitchFamily="18" charset="0"/>
              </a:rPr>
              <a:t> introduces an automated solution using load cell–based weight sensing to continuously track stock levels and detect abnormal conditions intelligently.</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 addition, RFID-based identification provides accurate product tracking and enhances security, helping to prevent unauthorized removal and improve overall inventory management efficiency.</a:t>
            </a:r>
          </a:p>
          <a:p>
            <a:pPr marL="0" marR="0" lvl="0" indent="0" algn="just" rtl="0">
              <a:lnSpc>
                <a:spcPct val="200000"/>
              </a:lnSpc>
              <a:spcBef>
                <a:spcPts val="0"/>
              </a:spcBef>
              <a:spcAft>
                <a:spcPts val="0"/>
              </a:spcAft>
              <a:buNone/>
            </a:pPr>
            <a:endParaRPr lang="en-US"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Date Placeholder 3"/>
          <p:cNvSpPr>
            <a:spLocks noGrp="1"/>
          </p:cNvSpPr>
          <p:nvPr>
            <p:ph type="dt" idx="10"/>
          </p:nvPr>
        </p:nvSpPr>
        <p:spPr/>
        <p:txBody>
          <a:bodyPr/>
          <a:lstStyle/>
          <a:p>
            <a:fld id="{A722CED7-5418-49D8-A264-112F76236AB5}"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9A3F92-FACF-D909-BB02-CB4B8FBBC2F3}"/>
              </a:ext>
            </a:extLst>
          </p:cNvPr>
          <p:cNvSpPr>
            <a:spLocks noGrp="1"/>
          </p:cNvSpPr>
          <p:nvPr>
            <p:ph type="dt" idx="10"/>
          </p:nvPr>
        </p:nvSpPr>
        <p:spPr/>
        <p:txBody>
          <a:bodyPr/>
          <a:lstStyle/>
          <a:p>
            <a:fld id="{C21BAFE0-50F4-4748-8BF0-B60CA2CA7C2A}" type="datetime3">
              <a:rPr lang="en-US" smtClean="0"/>
              <a:t>6 May 2026</a:t>
            </a:fld>
            <a:endParaRPr lang="en-US"/>
          </a:p>
        </p:txBody>
      </p:sp>
      <p:sp>
        <p:nvSpPr>
          <p:cNvPr id="3" name="Slide Number Placeholder 2">
            <a:extLst>
              <a:ext uri="{FF2B5EF4-FFF2-40B4-BE49-F238E27FC236}">
                <a16:creationId xmlns:a16="http://schemas.microsoft.com/office/drawing/2014/main" id="{A52821F9-F617-B3D9-750D-E0A3F967B5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graphicFrame>
        <p:nvGraphicFramePr>
          <p:cNvPr id="4" name="Table 3">
            <a:extLst>
              <a:ext uri="{FF2B5EF4-FFF2-40B4-BE49-F238E27FC236}">
                <a16:creationId xmlns:a16="http://schemas.microsoft.com/office/drawing/2014/main" id="{875A9AB3-9EAA-CCBF-11AB-EFE091C684FF}"/>
              </a:ext>
            </a:extLst>
          </p:cNvPr>
          <p:cNvGraphicFramePr>
            <a:graphicFrameLocks noGrp="1"/>
          </p:cNvGraphicFramePr>
          <p:nvPr>
            <p:extLst>
              <p:ext uri="{D42A27DB-BD31-4B8C-83A1-F6EECF244321}">
                <p14:modId xmlns:p14="http://schemas.microsoft.com/office/powerpoint/2010/main" val="705332129"/>
              </p:ext>
            </p:extLst>
          </p:nvPr>
        </p:nvGraphicFramePr>
        <p:xfrm>
          <a:off x="838200" y="1700808"/>
          <a:ext cx="10730407" cy="4655542"/>
        </p:xfrm>
        <a:graphic>
          <a:graphicData uri="http://schemas.openxmlformats.org/drawingml/2006/table">
            <a:tbl>
              <a:tblPr>
                <a:tableStyleId>{2D5ABB26-0587-4C30-8999-92F81FD0307C}</a:tableStyleId>
              </a:tblPr>
              <a:tblGrid>
                <a:gridCol w="2273487">
                  <a:extLst>
                    <a:ext uri="{9D8B030D-6E8A-4147-A177-3AD203B41FA5}">
                      <a16:colId xmlns:a16="http://schemas.microsoft.com/office/drawing/2014/main" val="3180039288"/>
                    </a:ext>
                  </a:extLst>
                </a:gridCol>
                <a:gridCol w="2114230">
                  <a:extLst>
                    <a:ext uri="{9D8B030D-6E8A-4147-A177-3AD203B41FA5}">
                      <a16:colId xmlns:a16="http://schemas.microsoft.com/office/drawing/2014/main" val="11232096"/>
                    </a:ext>
                  </a:extLst>
                </a:gridCol>
                <a:gridCol w="2114230">
                  <a:extLst>
                    <a:ext uri="{9D8B030D-6E8A-4147-A177-3AD203B41FA5}">
                      <a16:colId xmlns:a16="http://schemas.microsoft.com/office/drawing/2014/main" val="4052279810"/>
                    </a:ext>
                  </a:extLst>
                </a:gridCol>
                <a:gridCol w="2114230">
                  <a:extLst>
                    <a:ext uri="{9D8B030D-6E8A-4147-A177-3AD203B41FA5}">
                      <a16:colId xmlns:a16="http://schemas.microsoft.com/office/drawing/2014/main" val="29741263"/>
                    </a:ext>
                  </a:extLst>
                </a:gridCol>
                <a:gridCol w="2114230">
                  <a:extLst>
                    <a:ext uri="{9D8B030D-6E8A-4147-A177-3AD203B41FA5}">
                      <a16:colId xmlns:a16="http://schemas.microsoft.com/office/drawing/2014/main" val="2235444169"/>
                    </a:ext>
                  </a:extLst>
                </a:gridCol>
              </a:tblGrid>
              <a:tr h="387848">
                <a:tc>
                  <a:txBody>
                    <a:bodyPr/>
                    <a:lstStyle/>
                    <a:p>
                      <a:pPr>
                        <a:buNone/>
                      </a:pPr>
                      <a:r>
                        <a:rPr lang="en-US" sz="1100" b="1" dirty="0"/>
                        <a:t>Title</a:t>
                      </a:r>
                      <a:endParaRPr lang="en-US" sz="1100" dirty="0"/>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b="1"/>
                        <a:t>Author(s)</a:t>
                      </a:r>
                      <a:endParaRPr lang="en-US" sz="1100"/>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b="1"/>
                        <a:t>Year</a:t>
                      </a:r>
                      <a:endParaRPr lang="en-US" sz="1100"/>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b="1"/>
                        <a:t>Key Insights</a:t>
                      </a:r>
                      <a:endParaRPr lang="en-US" sz="1100"/>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b="1"/>
                        <a:t>Drawback</a:t>
                      </a:r>
                      <a:endParaRPr lang="en-US" sz="1100"/>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775619"/>
                  </a:ext>
                </a:extLst>
              </a:tr>
              <a:tr h="931108">
                <a:tc>
                  <a:txBody>
                    <a:bodyPr/>
                    <a:lstStyle/>
                    <a:p>
                      <a:pPr>
                        <a:buNone/>
                      </a:pPr>
                      <a:r>
                        <a:rPr lang="en-US" sz="1100" dirty="0"/>
                        <a:t>IoT Impact on Inventory Management</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Y. Mashayekhy et al.</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2022</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IoT improves real-time tracking, visibility, and supply chain efficiency</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Requires cloud setup and high initial cost</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801532"/>
                  </a:ext>
                </a:extLst>
              </a:tr>
              <a:tr h="1202739">
                <a:tc>
                  <a:txBody>
                    <a:bodyPr/>
                    <a:lstStyle/>
                    <a:p>
                      <a:pPr>
                        <a:buNone/>
                      </a:pPr>
                      <a:r>
                        <a:rPr lang="en-US" sz="1100" dirty="0"/>
                        <a:t>IoT-Based Smart Inventory System using Weight Sensors</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S. Rezwan et al.</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2018</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Uses weight sensors and NodeMCU to monitor stock and send alerts automatically</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Limited to small-scale applications </a:t>
                      </a:r>
                      <a:r>
                        <a:rPr lang="en-US" sz="1100" dirty="0">
                          <a:solidFill>
                            <a:schemeClr val="tx1"/>
                          </a:solidFill>
                        </a:rPr>
                        <a:t>(</a:t>
                      </a:r>
                      <a:r>
                        <a:rPr lang="en-US" sz="1100" dirty="0">
                          <a:solidFill>
                            <a:schemeClr val="tx1"/>
                          </a:solidFill>
                          <a:hlinkClick r:id="rId2" tooltip="(PDF) IoT Based Smart Inventory Management System for Kitchen Using Weight Sensors, LDR, LED, Arduino Mega and NodeMCU (ESP8266) Wi-Fi Module with Website and App">
                            <a:extLst>
                              <a:ext uri="{A12FA001-AC4F-418D-AE19-62706E023703}">
                                <ahyp:hlinkClr xmlns:ahyp="http://schemas.microsoft.com/office/drawing/2018/hyperlinkcolor" val="tx"/>
                              </a:ext>
                            </a:extLst>
                          </a:hlinkClick>
                        </a:rPr>
                        <a:t>ResearchGate</a:t>
                      </a:r>
                      <a:r>
                        <a:rPr lang="en-US" sz="1100" dirty="0">
                          <a:solidFill>
                            <a:schemeClr val="tx1"/>
                          </a:solidFill>
                        </a:rPr>
                        <a:t>)</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417663"/>
                  </a:ext>
                </a:extLst>
              </a:tr>
              <a:tr h="931108">
                <a:tc>
                  <a:txBody>
                    <a:bodyPr/>
                    <a:lstStyle/>
                    <a:p>
                      <a:pPr>
                        <a:buNone/>
                      </a:pPr>
                      <a:r>
                        <a:rPr lang="en-US" sz="1100"/>
                        <a:t>RFID-Based Inventory Management System</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S. Valli et al.</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2023</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RFID enables automatic identification and real-time inventory tracking</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Needs proper RFID infrastructure and setup </a:t>
                      </a:r>
                      <a:r>
                        <a:rPr lang="en-US" sz="1100" dirty="0">
                          <a:solidFill>
                            <a:schemeClr val="tx1"/>
                          </a:solidFill>
                        </a:rPr>
                        <a:t>(</a:t>
                      </a:r>
                      <a:r>
                        <a:rPr lang="en-US" sz="1100" dirty="0">
                          <a:solidFill>
                            <a:schemeClr val="tx1"/>
                          </a:solidFill>
                          <a:hlinkClick r:id="rId3" tooltip="RFID Based Inventory Management System">
                            <a:extLst>
                              <a:ext uri="{A12FA001-AC4F-418D-AE19-62706E023703}">
                                <ahyp:hlinkClr xmlns:ahyp="http://schemas.microsoft.com/office/drawing/2018/hyperlinkcolor" val="tx"/>
                              </a:ext>
                            </a:extLst>
                          </a:hlinkClick>
                        </a:rPr>
                        <a:t>IJRASET</a:t>
                      </a:r>
                      <a:r>
                        <a:rPr lang="en-US" sz="1100" dirty="0">
                          <a:solidFill>
                            <a:schemeClr val="tx1"/>
                          </a:solidFill>
                        </a:rPr>
                        <a:t>)</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428645"/>
                  </a:ext>
                </a:extLst>
              </a:tr>
              <a:tr h="1202739">
                <a:tc>
                  <a:txBody>
                    <a:bodyPr/>
                    <a:lstStyle/>
                    <a:p>
                      <a:pPr>
                        <a:buNone/>
                      </a:pPr>
                      <a:r>
                        <a:rPr lang="en-US" sz="1100"/>
                        <a:t>IoT Asset Management using RFID &amp; ESP8266</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J. Ristono et al.</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2024</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Combines RFID and ESP8266 for accurate and low-cost asset tracking</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Dependent on internet connectivity (</a:t>
                      </a:r>
                      <a:r>
                        <a:rPr lang="en-US" sz="1100" dirty="0">
                          <a:solidFill>
                            <a:schemeClr val="tx1"/>
                          </a:solidFill>
                          <a:hlinkClick r:id="rId4" tooltip="Implementasi Internet of Things (IoT) untuk Optimalisasi Manajemen Aset Peralatan Praktikum Menggunakan RFID dan NodeMCU | Jurnal Publikasi Sistem Informasi dan Manajemen Bisnis">
                            <a:extLst>
                              <a:ext uri="{A12FA001-AC4F-418D-AE19-62706E023703}">
                                <ahyp:hlinkClr xmlns:ahyp="http://schemas.microsoft.com/office/drawing/2018/hyperlinkcolor" val="tx"/>
                              </a:ext>
                            </a:extLst>
                          </a:hlinkClick>
                        </a:rPr>
                        <a:t>Journal Center</a:t>
                      </a:r>
                      <a:r>
                        <a:rPr lang="en-US" sz="1100" dirty="0">
                          <a:solidFill>
                            <a:schemeClr val="tx1"/>
                          </a:solidFill>
                        </a:rPr>
                        <a:t>)</a:t>
                      </a:r>
                    </a:p>
                  </a:txBody>
                  <a:tcPr marL="71725" marR="71725" marT="35863" marB="3586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9391133"/>
                  </a:ext>
                </a:extLst>
              </a:tr>
            </a:tbl>
          </a:graphicData>
        </a:graphic>
      </p:graphicFrame>
      <p:sp>
        <p:nvSpPr>
          <p:cNvPr id="6" name="TextBox 5">
            <a:extLst>
              <a:ext uri="{FF2B5EF4-FFF2-40B4-BE49-F238E27FC236}">
                <a16:creationId xmlns:a16="http://schemas.microsoft.com/office/drawing/2014/main" id="{97346946-DBBA-DAAB-523E-88A0B5872952}"/>
              </a:ext>
            </a:extLst>
          </p:cNvPr>
          <p:cNvSpPr txBox="1"/>
          <p:nvPr/>
        </p:nvSpPr>
        <p:spPr>
          <a:xfrm>
            <a:off x="1847528" y="476672"/>
            <a:ext cx="8424936" cy="646331"/>
          </a:xfrm>
          <a:prstGeom prst="rect">
            <a:avLst/>
          </a:prstGeom>
          <a:noFill/>
        </p:spPr>
        <p:txBody>
          <a:bodyPr wrap="square" rtlCol="0">
            <a:spAutoFit/>
          </a:bodyPr>
          <a:lstStyle/>
          <a:p>
            <a:r>
              <a:rPr lang="en-US" sz="3600" b="1"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             LITERATURE SURVEY</a:t>
            </a:r>
            <a:endParaRPr lang="en-US" sz="3600" dirty="0"/>
          </a:p>
        </p:txBody>
      </p:sp>
    </p:spTree>
    <p:extLst>
      <p:ext uri="{BB962C8B-B14F-4D97-AF65-F5344CB8AC3E}">
        <p14:creationId xmlns:p14="http://schemas.microsoft.com/office/powerpoint/2010/main" val="2096836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48543-3AA5-62A8-7230-ACB491444C76}"/>
              </a:ext>
            </a:extLst>
          </p:cNvPr>
          <p:cNvSpPr>
            <a:spLocks noGrp="1"/>
          </p:cNvSpPr>
          <p:nvPr>
            <p:ph type="title"/>
          </p:nvPr>
        </p:nvSpPr>
        <p:spPr/>
        <p:txBody>
          <a:bodyPr/>
          <a:lstStyle/>
          <a:p>
            <a:r>
              <a:rPr lang="en-US" dirty="0"/>
              <a:t>       </a:t>
            </a:r>
            <a:r>
              <a:rPr lang="en-US" b="1" dirty="0"/>
              <a:t>           </a:t>
            </a:r>
            <a:r>
              <a:rPr lang="en-US" dirty="0"/>
              <a:t>  </a:t>
            </a:r>
            <a:r>
              <a:rPr lang="en-US" b="1" dirty="0">
                <a:solidFill>
                  <a:srgbClr val="FF0000"/>
                </a:solidFill>
                <a:latin typeface="Times New Roman" panose="02020603050405020304" pitchFamily="18" charset="0"/>
                <a:cs typeface="Times New Roman" panose="02020603050405020304" pitchFamily="18" charset="0"/>
              </a:rPr>
              <a:t>EXISTING SYSTEM</a:t>
            </a:r>
          </a:p>
        </p:txBody>
      </p:sp>
      <p:sp>
        <p:nvSpPr>
          <p:cNvPr id="3" name="Text Placeholder 2">
            <a:extLst>
              <a:ext uri="{FF2B5EF4-FFF2-40B4-BE49-F238E27FC236}">
                <a16:creationId xmlns:a16="http://schemas.microsoft.com/office/drawing/2014/main" id="{81F0920B-D7EF-5254-C8EA-7A401EDEBB0E}"/>
              </a:ext>
            </a:extLst>
          </p:cNvPr>
          <p:cNvSpPr>
            <a:spLocks noGrp="1"/>
          </p:cNvSpPr>
          <p:nvPr>
            <p:ph type="body" idx="1"/>
          </p:nvPr>
        </p:nvSpPr>
        <p:spPr>
          <a:xfrm>
            <a:off x="1055440" y="1556792"/>
            <a:ext cx="10515600" cy="4351338"/>
          </a:xfrm>
        </p:spPr>
        <p:txBody>
          <a:bodyPr>
            <a:normAutofit fontScale="92500"/>
          </a:bodyPr>
          <a:lstStyle/>
          <a:p>
            <a:pPr marL="114300" indent="0">
              <a:lnSpc>
                <a:spcPct val="200000"/>
              </a:lnSpc>
              <a:buNone/>
            </a:pPr>
            <a:r>
              <a:rPr lang="en-US" sz="2400" dirty="0">
                <a:latin typeface="Times New Roman" panose="02020603050405020304" pitchFamily="18" charset="0"/>
                <a:cs typeface="Times New Roman" panose="02020603050405020304" pitchFamily="18" charset="0"/>
              </a:rPr>
              <a:t>• Inventory levels are checked manually by staff.</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Stock details are recorded in registers or basic systems.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Monitoring depends completely on human effort.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No real-time tracking or alert mechanism is available.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Stock shortages or overstocking are identified late.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System becomes inefficient and error-prone in large environments.</a:t>
            </a:r>
          </a:p>
          <a:p>
            <a:pPr marL="114300" indent="0">
              <a:buNone/>
            </a:pPr>
            <a:endParaRPr lang="en-US" dirty="0"/>
          </a:p>
        </p:txBody>
      </p:sp>
      <p:sp>
        <p:nvSpPr>
          <p:cNvPr id="4" name="Date Placeholder 3">
            <a:extLst>
              <a:ext uri="{FF2B5EF4-FFF2-40B4-BE49-F238E27FC236}">
                <a16:creationId xmlns:a16="http://schemas.microsoft.com/office/drawing/2014/main" id="{9CE1D714-2372-D557-E09D-A8B003654452}"/>
              </a:ext>
            </a:extLst>
          </p:cNvPr>
          <p:cNvSpPr>
            <a:spLocks noGrp="1"/>
          </p:cNvSpPr>
          <p:nvPr>
            <p:ph type="dt" idx="10"/>
          </p:nvPr>
        </p:nvSpPr>
        <p:spPr/>
        <p:txBody>
          <a:bodyPr/>
          <a:lstStyle/>
          <a:p>
            <a:fld id="{B3451B7D-A345-4862-BF1D-428F0ACE7489}" type="datetime3">
              <a:rPr lang="en-US" smtClean="0"/>
              <a:t>6 May 2026</a:t>
            </a:fld>
            <a:endParaRPr lang="en-US"/>
          </a:p>
        </p:txBody>
      </p:sp>
      <p:sp>
        <p:nvSpPr>
          <p:cNvPr id="5" name="Slide Number Placeholder 4">
            <a:extLst>
              <a:ext uri="{FF2B5EF4-FFF2-40B4-BE49-F238E27FC236}">
                <a16:creationId xmlns:a16="http://schemas.microsoft.com/office/drawing/2014/main" id="{0465C0E2-5D9B-913E-3224-09CBEC2ADE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Tree>
    <p:extLst>
      <p:ext uri="{BB962C8B-B14F-4D97-AF65-F5344CB8AC3E}">
        <p14:creationId xmlns:p14="http://schemas.microsoft.com/office/powerpoint/2010/main" val="1367857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6F06E-2A23-CEFF-C232-9A9CD372E90A}"/>
              </a:ext>
            </a:extLst>
          </p:cNvPr>
          <p:cNvSpPr>
            <a:spLocks noGrp="1"/>
          </p:cNvSpPr>
          <p:nvPr>
            <p:ph type="title"/>
          </p:nvPr>
        </p:nvSpPr>
        <p:spPr/>
        <p:txBody>
          <a:bodyPr>
            <a:normAutofit/>
          </a:bodyPr>
          <a:lstStyle/>
          <a:p>
            <a:r>
              <a:rPr lang="en-US" sz="3600" b="1" dirty="0">
                <a:solidFill>
                  <a:srgbClr val="C00000"/>
                </a:solidFill>
                <a:latin typeface="Times New Roman" pitchFamily="18" charset="0"/>
                <a:cs typeface="Times New Roman" pitchFamily="18" charset="0"/>
              </a:rPr>
              <a:t>          </a:t>
            </a:r>
            <a:r>
              <a:rPr lang="en-US" sz="3600" b="1" dirty="0">
                <a:solidFill>
                  <a:srgbClr val="FF0000"/>
                </a:solidFill>
                <a:latin typeface="Times New Roman" pitchFamily="18" charset="0"/>
                <a:cs typeface="Times New Roman" pitchFamily="18" charset="0"/>
              </a:rPr>
              <a:t>CHALLENGES IN  EXISTING SYSTEM</a:t>
            </a:r>
            <a:endParaRPr lang="en-US" sz="3600" dirty="0">
              <a:solidFill>
                <a:srgbClr val="FF0000"/>
              </a:solidFill>
            </a:endParaRPr>
          </a:p>
        </p:txBody>
      </p:sp>
      <p:sp>
        <p:nvSpPr>
          <p:cNvPr id="3" name="Text Placeholder 2">
            <a:extLst>
              <a:ext uri="{FF2B5EF4-FFF2-40B4-BE49-F238E27FC236}">
                <a16:creationId xmlns:a16="http://schemas.microsoft.com/office/drawing/2014/main" id="{A93FA7A9-287C-D2E0-519B-78E5F10E6DDD}"/>
              </a:ext>
            </a:extLst>
          </p:cNvPr>
          <p:cNvSpPr>
            <a:spLocks noGrp="1"/>
          </p:cNvSpPr>
          <p:nvPr>
            <p:ph type="body" idx="1"/>
          </p:nvPr>
        </p:nvSpPr>
        <p:spPr/>
        <p:txBody>
          <a:bodyPr>
            <a:normAutofit fontScale="85000" lnSpcReduction="10000"/>
          </a:bodyPr>
          <a:lstStyle/>
          <a:p>
            <a:pPr marL="114300" indent="0">
              <a:lnSpc>
                <a:spcPct val="200000"/>
              </a:lnSpc>
              <a:buNone/>
            </a:pPr>
            <a:r>
              <a:rPr lang="en-US" sz="2400" dirty="0">
                <a:latin typeface="Times New Roman" panose="02020603050405020304" pitchFamily="18" charset="0"/>
                <a:cs typeface="Times New Roman" panose="02020603050405020304" pitchFamily="18" charset="0"/>
              </a:rPr>
              <a:t>• Time-consuming due to manual monitoring.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Prone to human errors in stock recording.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No real-time tracking of inventory levels.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 in identifying stock shortages or overstocking.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No security to detect unauthorized removal or replacement.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Increased labor effort and operational cost.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Inefficient for large-scale inventory management.</a:t>
            </a:r>
          </a:p>
        </p:txBody>
      </p:sp>
      <p:sp>
        <p:nvSpPr>
          <p:cNvPr id="4" name="Date Placeholder 3">
            <a:extLst>
              <a:ext uri="{FF2B5EF4-FFF2-40B4-BE49-F238E27FC236}">
                <a16:creationId xmlns:a16="http://schemas.microsoft.com/office/drawing/2014/main" id="{8F448A96-A8D0-BA08-CEF3-0BC79F7E7F87}"/>
              </a:ext>
            </a:extLst>
          </p:cNvPr>
          <p:cNvSpPr>
            <a:spLocks noGrp="1"/>
          </p:cNvSpPr>
          <p:nvPr>
            <p:ph type="dt" idx="10"/>
          </p:nvPr>
        </p:nvSpPr>
        <p:spPr/>
        <p:txBody>
          <a:bodyPr/>
          <a:lstStyle/>
          <a:p>
            <a:fld id="{B3451B7D-A345-4862-BF1D-428F0ACE7489}" type="datetime3">
              <a:rPr lang="en-US" smtClean="0"/>
              <a:t>6 May 2026</a:t>
            </a:fld>
            <a:endParaRPr lang="en-US"/>
          </a:p>
        </p:txBody>
      </p:sp>
      <p:sp>
        <p:nvSpPr>
          <p:cNvPr id="5" name="Slide Number Placeholder 4">
            <a:extLst>
              <a:ext uri="{FF2B5EF4-FFF2-40B4-BE49-F238E27FC236}">
                <a16:creationId xmlns:a16="http://schemas.microsoft.com/office/drawing/2014/main" id="{735C908A-B485-86F1-D11A-363CB5BEAA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Tree>
    <p:extLst>
      <p:ext uri="{BB962C8B-B14F-4D97-AF65-F5344CB8AC3E}">
        <p14:creationId xmlns:p14="http://schemas.microsoft.com/office/powerpoint/2010/main" val="4222136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8"/>
          <p:cNvSpPr txBox="1"/>
          <p:nvPr/>
        </p:nvSpPr>
        <p:spPr>
          <a:xfrm>
            <a:off x="3057832" y="186813"/>
            <a:ext cx="7865807" cy="646331"/>
          </a:xfrm>
          <a:prstGeom prst="rect">
            <a:avLst/>
          </a:prstGeom>
          <a:noFill/>
          <a:ln>
            <a:noFill/>
          </a:ln>
        </p:spPr>
        <p:txBody>
          <a:bodyPr spcFirstLastPara="1" wrap="square" lIns="91425" tIns="45700" rIns="91425" bIns="45700" anchor="t" anchorCtr="0">
            <a:spAutoFit/>
          </a:bodyPr>
          <a:lstStyle/>
          <a:p>
            <a:pPr marL="234950" marR="0" lvl="0" indent="-234950" algn="l" rtl="0">
              <a:spcBef>
                <a:spcPts val="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rgbClr val="FF0000"/>
                </a:solidFill>
                <a:latin typeface="Times New Roman" panose="02020603050405020304"/>
                <a:ea typeface="Times New Roman" panose="02020603050405020304"/>
                <a:cs typeface="Times New Roman" panose="02020603050405020304"/>
                <a:sym typeface="Times New Roman" panose="02020603050405020304"/>
              </a:rPr>
              <a:t>PROPOSED SYSTEM</a:t>
            </a:r>
          </a:p>
        </p:txBody>
      </p:sp>
      <p:sp>
        <p:nvSpPr>
          <p:cNvPr id="4" name="Date Placeholder 3"/>
          <p:cNvSpPr>
            <a:spLocks noGrp="1"/>
          </p:cNvSpPr>
          <p:nvPr>
            <p:ph type="dt" idx="10"/>
          </p:nvPr>
        </p:nvSpPr>
        <p:spPr/>
        <p:txBody>
          <a:bodyPr/>
          <a:lstStyle/>
          <a:p>
            <a:fld id="{6270A0AC-6052-4B27-80CD-7CDC6E1B306D}"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sp>
        <p:nvSpPr>
          <p:cNvPr id="2" name="TextBox 1">
            <a:extLst>
              <a:ext uri="{FF2B5EF4-FFF2-40B4-BE49-F238E27FC236}">
                <a16:creationId xmlns:a16="http://schemas.microsoft.com/office/drawing/2014/main" id="{1CF77445-F225-B318-D1B4-67FE2C3A453E}"/>
              </a:ext>
            </a:extLst>
          </p:cNvPr>
          <p:cNvSpPr txBox="1"/>
          <p:nvPr/>
        </p:nvSpPr>
        <p:spPr>
          <a:xfrm>
            <a:off x="479376" y="873720"/>
            <a:ext cx="11017224" cy="5232202"/>
          </a:xfrm>
          <a:prstGeom prst="rect">
            <a:avLst/>
          </a:prstGeom>
          <a:noFill/>
        </p:spPr>
        <p:txBody>
          <a:bodyPr wrap="square" rtlCol="0">
            <a:spAutoFit/>
          </a:bodyPr>
          <a:lstStyle/>
          <a:p>
            <a:pPr algn="just">
              <a:lnSpc>
                <a:spcPct val="200000"/>
              </a:lnSpc>
            </a:pPr>
            <a:r>
              <a:rPr lang="en-US" sz="2000" dirty="0">
                <a:latin typeface="Times New Roman" panose="02020603050405020304" pitchFamily="18" charset="0"/>
                <a:cs typeface="Times New Roman" panose="02020603050405020304" pitchFamily="18" charset="0"/>
              </a:rPr>
              <a:t>The proposed system, </a:t>
            </a:r>
            <a:r>
              <a:rPr lang="en-US" sz="2000" b="1" dirty="0">
                <a:latin typeface="Times New Roman" panose="02020603050405020304" pitchFamily="18" charset="0"/>
                <a:cs typeface="Times New Roman" panose="02020603050405020304" pitchFamily="18" charset="0"/>
              </a:rPr>
              <a:t>Smart Inventory Monitoring System</a:t>
            </a:r>
            <a:r>
              <a:rPr lang="en-US" sz="2000" dirty="0">
                <a:latin typeface="Times New Roman" panose="02020603050405020304" pitchFamily="18" charset="0"/>
                <a:cs typeface="Times New Roman" panose="02020603050405020304" pitchFamily="18" charset="0"/>
              </a:rPr>
              <a:t>, provides an automated and efficient solution for inventory management using load cell sensors and RFID technology. The load cell continuously measures the weight of items to determine stock levels, while RFID ensures accurate product identification and enhances security. An ESP8266 microcontroller processes the data and transmits it to a cloud platform via Wi-Fi, enabling real-time monitoring through a mobile application. The system also detects abnormal conditions such as unauthorized removal or sudden stock changes and generates alert notifications when inventory levels fall below a predefined threshold. This approach reduces manual effort, improves accuracy, enhances security, and ensures efficient and reliable inventory management.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1"/>
          <p:cNvSpPr txBox="1"/>
          <p:nvPr/>
        </p:nvSpPr>
        <p:spPr>
          <a:xfrm>
            <a:off x="3834581" y="137652"/>
            <a:ext cx="554539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FF0000"/>
                </a:solidFill>
                <a:latin typeface="Times New Roman" panose="02020603050405020304"/>
                <a:ea typeface="Times New Roman" panose="02020603050405020304"/>
                <a:cs typeface="Times New Roman" panose="02020603050405020304"/>
                <a:sym typeface="Times New Roman" panose="02020603050405020304"/>
              </a:rPr>
              <a:t>BLOCK DIAGRAM</a:t>
            </a:r>
          </a:p>
          <a:p>
            <a:pPr marL="0" marR="0" lvl="0" indent="0" algn="l" rtl="0">
              <a:spcBef>
                <a:spcPts val="0"/>
              </a:spcBef>
              <a:spcAft>
                <a:spcPts val="0"/>
              </a:spcAft>
              <a:buNone/>
            </a:pPr>
            <a:endParaRPr sz="1800">
              <a:solidFill>
                <a:srgbClr val="FF0000"/>
              </a:solidFill>
              <a:latin typeface="Calibri" panose="020F0502020204030204"/>
              <a:ea typeface="Calibri" panose="020F0502020204030204"/>
              <a:cs typeface="Calibri" panose="020F0502020204030204"/>
              <a:sym typeface="Calibri" panose="020F0502020204030204"/>
            </a:endParaRPr>
          </a:p>
        </p:txBody>
      </p:sp>
      <p:sp>
        <p:nvSpPr>
          <p:cNvPr id="4" name="Date Placeholder 3"/>
          <p:cNvSpPr>
            <a:spLocks noGrp="1"/>
          </p:cNvSpPr>
          <p:nvPr>
            <p:ph type="dt" idx="10"/>
          </p:nvPr>
        </p:nvSpPr>
        <p:spPr/>
        <p:txBody>
          <a:bodyPr/>
          <a:lstStyle/>
          <a:p>
            <a:fld id="{5B0EC45A-D92D-40E9-823A-EAE5C35AE6F7}"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pic>
        <p:nvPicPr>
          <p:cNvPr id="8" name="Picture 7">
            <a:extLst>
              <a:ext uri="{FF2B5EF4-FFF2-40B4-BE49-F238E27FC236}">
                <a16:creationId xmlns:a16="http://schemas.microsoft.com/office/drawing/2014/main" id="{E80F9F45-23CD-69CE-E7D3-FBE0810A1C85}"/>
              </a:ext>
            </a:extLst>
          </p:cNvPr>
          <p:cNvPicPr>
            <a:picLocks noChangeAspect="1"/>
          </p:cNvPicPr>
          <p:nvPr/>
        </p:nvPicPr>
        <p:blipFill>
          <a:blip r:embed="rId3"/>
          <a:stretch>
            <a:fillRect/>
          </a:stretch>
        </p:blipFill>
        <p:spPr>
          <a:xfrm>
            <a:off x="1343472" y="836712"/>
            <a:ext cx="9535988" cy="49411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927350" y="476885"/>
            <a:ext cx="6096000" cy="763270"/>
          </a:xfrm>
          <a:prstGeom prst="rect">
            <a:avLst/>
          </a:prstGeom>
          <a:noFill/>
        </p:spPr>
        <p:txBody>
          <a:bodyPr wrap="square" rtlCol="0" anchor="t">
            <a:noAutofit/>
          </a:bodyPr>
          <a:lstStyle/>
          <a:p>
            <a:pPr marL="0" marR="0" lvl="0" indent="0" algn="ctr" rtl="0">
              <a:spcBef>
                <a:spcPts val="0"/>
              </a:spcBef>
              <a:spcAft>
                <a:spcPts val="0"/>
              </a:spcAft>
              <a:buNone/>
            </a:pPr>
            <a:r>
              <a:rPr lang="en-US" sz="3600" b="1">
                <a:solidFill>
                  <a:srgbClr val="FF0000"/>
                </a:solidFill>
                <a:latin typeface="Times New Roman" panose="02020603050405020304"/>
                <a:ea typeface="Times New Roman" panose="02020603050405020304"/>
                <a:cs typeface="Times New Roman" panose="02020603050405020304"/>
                <a:sym typeface="Times New Roman" panose="02020603050405020304"/>
              </a:rPr>
              <a:t>EXPLANATION</a:t>
            </a:r>
          </a:p>
          <a:p>
            <a:pPr marL="0" marR="0" lvl="0" indent="0" algn="l" rtl="0">
              <a:spcBef>
                <a:spcPts val="0"/>
              </a:spcBef>
              <a:spcAft>
                <a:spcPts val="0"/>
              </a:spcAft>
              <a:buNone/>
            </a:pPr>
            <a:endParaRPr lang="en-US" sz="3600" b="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 Box 3"/>
          <p:cNvSpPr txBox="1"/>
          <p:nvPr/>
        </p:nvSpPr>
        <p:spPr>
          <a:xfrm>
            <a:off x="645477" y="1124744"/>
            <a:ext cx="10901045" cy="5617692"/>
          </a:xfrm>
          <a:prstGeom prst="rect">
            <a:avLst/>
          </a:prstGeom>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Power Supply :</a:t>
            </a:r>
            <a:r>
              <a:rPr lang="en-US" sz="2000" dirty="0">
                <a:latin typeface="Times New Roman" panose="02020603050405020304" pitchFamily="18" charset="0"/>
                <a:cs typeface="Times New Roman" panose="02020603050405020304" pitchFamily="18" charset="0"/>
              </a:rPr>
              <a:t> The power supply provides the required power to the ESP32 microcontroller, load cell sensor, HX711 module, RFID reader, and LCD display. It ensures smooth and continuous operation of the entire system.</a:t>
            </a:r>
          </a:p>
          <a:p>
            <a:pPr>
              <a:lnSpc>
                <a:spcPct val="150000"/>
              </a:lnSpc>
            </a:pPr>
            <a:r>
              <a:rPr lang="en-US" sz="2000" b="1" dirty="0">
                <a:latin typeface="Times New Roman" panose="02020603050405020304" pitchFamily="18" charset="0"/>
                <a:cs typeface="Times New Roman" panose="02020603050405020304" pitchFamily="18" charset="0"/>
              </a:rPr>
              <a:t>Load Cell Sensor :</a:t>
            </a:r>
            <a:r>
              <a:rPr lang="en-US" sz="2000" dirty="0">
                <a:latin typeface="Times New Roman" panose="02020603050405020304" pitchFamily="18" charset="0"/>
                <a:cs typeface="Times New Roman" panose="02020603050405020304" pitchFamily="18" charset="0"/>
              </a:rPr>
              <a:t> The load cell sensor measures the weight of the items placed on the shelf and converts the weight into an electrical signal.</a:t>
            </a:r>
          </a:p>
          <a:p>
            <a:pPr>
              <a:lnSpc>
                <a:spcPct val="150000"/>
              </a:lnSpc>
            </a:pPr>
            <a:r>
              <a:rPr lang="en-US" sz="2000" b="1" dirty="0">
                <a:latin typeface="Times New Roman" panose="02020603050405020304" pitchFamily="18" charset="0"/>
                <a:cs typeface="Times New Roman" panose="02020603050405020304" pitchFamily="18" charset="0"/>
              </a:rPr>
              <a:t>HX711 Amplifier :</a:t>
            </a:r>
            <a:r>
              <a:rPr lang="en-US" sz="2000" dirty="0">
                <a:latin typeface="Times New Roman" panose="02020603050405020304" pitchFamily="18" charset="0"/>
                <a:cs typeface="Times New Roman" panose="02020603050405020304" pitchFamily="18" charset="0"/>
              </a:rPr>
              <a:t> The HX711 module receives the signal from the load cell sensor, amplifies it, and converts it into digital data, which is then sent to the ESP32 microcontroller.</a:t>
            </a:r>
          </a:p>
          <a:p>
            <a:pPr>
              <a:lnSpc>
                <a:spcPct val="150000"/>
              </a:lnSpc>
            </a:pPr>
            <a:r>
              <a:rPr lang="en-US" sz="2000" b="1" dirty="0">
                <a:latin typeface="Times New Roman" panose="02020603050405020304" pitchFamily="18" charset="0"/>
                <a:cs typeface="Times New Roman" panose="02020603050405020304" pitchFamily="18" charset="0"/>
              </a:rPr>
              <a:t>RFID Reader :</a:t>
            </a:r>
            <a:r>
              <a:rPr lang="en-US" sz="2000" dirty="0">
                <a:latin typeface="Times New Roman" panose="02020603050405020304" pitchFamily="18" charset="0"/>
                <a:cs typeface="Times New Roman" panose="02020603050405020304" pitchFamily="18" charset="0"/>
              </a:rPr>
              <a:t> The RFID reader reads data from RFID tags attached to each product and sends the identification information to the ESP32.</a:t>
            </a:r>
          </a:p>
          <a:p>
            <a:pPr>
              <a:lnSpc>
                <a:spcPct val="150000"/>
              </a:lnSpc>
            </a:pPr>
            <a:r>
              <a:rPr lang="en-US" sz="2000" b="1" dirty="0">
                <a:latin typeface="Times New Roman" panose="02020603050405020304" pitchFamily="18" charset="0"/>
                <a:cs typeface="Times New Roman" panose="02020603050405020304" pitchFamily="18" charset="0"/>
              </a:rPr>
              <a:t>RFID Tag :</a:t>
            </a:r>
            <a:r>
              <a:rPr lang="en-US" sz="2000" dirty="0">
                <a:latin typeface="Times New Roman" panose="02020603050405020304" pitchFamily="18" charset="0"/>
                <a:cs typeface="Times New Roman" panose="02020603050405020304" pitchFamily="18" charset="0"/>
              </a:rPr>
              <a:t> The RFID tag stores unique identification data for each product, enabling accurate tracking and security.</a:t>
            </a:r>
          </a:p>
          <a:p>
            <a:pPr marL="342900" indent="-342900" algn="just">
              <a:lnSpc>
                <a:spcPct val="150000"/>
              </a:lnSpc>
              <a:buFont typeface="Arial" panose="020B0604020202020204" pitchFamily="34" charset="0"/>
              <a:buChar char="•"/>
            </a:pPr>
            <a:endParaRPr lang="en-US" altLang="zh-CN" sz="2200" dirty="0">
              <a:latin typeface="Times New Roman" panose="02020603050405020304" charset="0"/>
              <a:cs typeface="Times New Roman" panose="02020603050405020304" charset="0"/>
            </a:endParaRPr>
          </a:p>
        </p:txBody>
      </p:sp>
      <p:sp>
        <p:nvSpPr>
          <p:cNvPr id="5" name="Date Placeholder 4"/>
          <p:cNvSpPr>
            <a:spLocks noGrp="1"/>
          </p:cNvSpPr>
          <p:nvPr>
            <p:ph type="dt" idx="10"/>
          </p:nvPr>
        </p:nvSpPr>
        <p:spPr/>
        <p:txBody>
          <a:bodyPr/>
          <a:lstStyle/>
          <a:p>
            <a:fld id="{097CD426-F101-479C-9A3E-D5AD44AA5DC7}"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83840" y="332740"/>
            <a:ext cx="6096000" cy="1198880"/>
          </a:xfrm>
          <a:prstGeom prst="rect">
            <a:avLst/>
          </a:prstGeom>
          <a:noFill/>
        </p:spPr>
        <p:txBody>
          <a:bodyPr wrap="square" rtlCol="0" anchor="t">
            <a:spAutoFit/>
          </a:bodyPr>
          <a:lstStyle/>
          <a:p>
            <a:pPr marL="0" marR="0" lvl="0" indent="0" algn="ctr" rtl="0">
              <a:spcBef>
                <a:spcPts val="0"/>
              </a:spcBef>
              <a:spcAft>
                <a:spcPts val="0"/>
              </a:spcAft>
              <a:buNone/>
            </a:pPr>
            <a:r>
              <a:rPr lang="en-US" sz="3600" b="1">
                <a:solidFill>
                  <a:srgbClr val="FF0000"/>
                </a:solidFill>
                <a:latin typeface="Times New Roman" panose="02020603050405020304"/>
                <a:ea typeface="Times New Roman" panose="02020603050405020304"/>
                <a:cs typeface="Times New Roman" panose="02020603050405020304"/>
                <a:sym typeface="Times New Roman" panose="02020603050405020304"/>
              </a:rPr>
              <a:t>EXPLANATION</a:t>
            </a:r>
          </a:p>
          <a:p>
            <a:pPr marL="0" marR="0" lvl="0" indent="0" algn="l" rtl="0">
              <a:spcBef>
                <a:spcPts val="0"/>
              </a:spcBef>
              <a:spcAft>
                <a:spcPts val="0"/>
              </a:spcAft>
              <a:buNone/>
            </a:pPr>
            <a:endParaRPr lang="en-US" sz="3600" b="1">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 Box 2"/>
          <p:cNvSpPr txBox="1"/>
          <p:nvPr/>
        </p:nvSpPr>
        <p:spPr>
          <a:xfrm>
            <a:off x="983615" y="1557020"/>
            <a:ext cx="10529570" cy="4400550"/>
          </a:xfrm>
          <a:prstGeom prst="rect">
            <a:avLst/>
          </a:prstGeom>
        </p:spPr>
        <p:txBody>
          <a:bodyPr wrap="square">
            <a:noAutofit/>
          </a:bodyPr>
          <a:lstStyle/>
          <a:p>
            <a:pPr marL="342900" indent="-342900" algn="just">
              <a:lnSpc>
                <a:spcPct val="200000"/>
              </a:lnSpc>
              <a:buFont typeface="Arial" panose="020B0604020202020204" pitchFamily="34" charset="0"/>
              <a:buChar char="•"/>
            </a:pPr>
            <a:endParaRPr lang="en-US" altLang="zh-CN" sz="2200" dirty="0">
              <a:latin typeface="Times New Roman" panose="02020603050405020304" charset="0"/>
              <a:cs typeface="Times New Roman" panose="02020603050405020304" charset="0"/>
            </a:endParaRPr>
          </a:p>
        </p:txBody>
      </p:sp>
      <p:sp>
        <p:nvSpPr>
          <p:cNvPr id="4" name="Date Placeholder 3"/>
          <p:cNvSpPr>
            <a:spLocks noGrp="1"/>
          </p:cNvSpPr>
          <p:nvPr>
            <p:ph type="dt" idx="10"/>
          </p:nvPr>
        </p:nvSpPr>
        <p:spPr/>
        <p:txBody>
          <a:bodyPr/>
          <a:lstStyle/>
          <a:p>
            <a:fld id="{B2E20EDE-CDB1-4029-87A7-2DCB9371C389}"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
        <p:nvSpPr>
          <p:cNvPr id="7" name="TextBox 6">
            <a:extLst>
              <a:ext uri="{FF2B5EF4-FFF2-40B4-BE49-F238E27FC236}">
                <a16:creationId xmlns:a16="http://schemas.microsoft.com/office/drawing/2014/main" id="{AA06CB9B-94D0-7B42-DC88-A6873F7137D8}"/>
              </a:ext>
            </a:extLst>
          </p:cNvPr>
          <p:cNvSpPr txBox="1"/>
          <p:nvPr/>
        </p:nvSpPr>
        <p:spPr>
          <a:xfrm>
            <a:off x="551384" y="1412776"/>
            <a:ext cx="10961801" cy="4191981"/>
          </a:xfrm>
          <a:prstGeom prst="rect">
            <a:avLst/>
          </a:prstGeom>
          <a:noFill/>
        </p:spPr>
        <p:txBody>
          <a:bodyPr wrap="square">
            <a:spAutoFit/>
          </a:bodyPr>
          <a:lstStyle/>
          <a:p>
            <a:pPr>
              <a:lnSpc>
                <a:spcPct val="150000"/>
              </a:lnSpc>
              <a:buNone/>
            </a:pPr>
            <a:r>
              <a:rPr lang="en-US" sz="2000" b="1" dirty="0">
                <a:latin typeface="Times New Roman" panose="02020603050405020304" pitchFamily="18" charset="0"/>
                <a:cs typeface="Times New Roman" panose="02020603050405020304" pitchFamily="18" charset="0"/>
              </a:rPr>
              <a:t>ESP32 Microcontroller :</a:t>
            </a:r>
            <a:r>
              <a:rPr lang="en-US" sz="2000" dirty="0">
                <a:latin typeface="Times New Roman" panose="02020603050405020304" pitchFamily="18" charset="0"/>
                <a:cs typeface="Times New Roman" panose="02020603050405020304" pitchFamily="18" charset="0"/>
              </a:rPr>
              <a:t> The ESP32 acts as the brain of the system. It processes weight and RFID data, calculates stock levels, and sends the information to the cloud server using Wi-Fi.</a:t>
            </a:r>
          </a:p>
          <a:p>
            <a:pPr>
              <a:lnSpc>
                <a:spcPct val="150000"/>
              </a:lnSpc>
              <a:buNone/>
            </a:pPr>
            <a:r>
              <a:rPr lang="en-US" sz="2000" b="1" dirty="0">
                <a:latin typeface="Times New Roman" panose="02020603050405020304" pitchFamily="18" charset="0"/>
                <a:cs typeface="Times New Roman" panose="02020603050405020304" pitchFamily="18" charset="0"/>
              </a:rPr>
              <a:t>LCD Display :</a:t>
            </a:r>
            <a:r>
              <a:rPr lang="en-US" sz="2000" dirty="0">
                <a:latin typeface="Times New Roman" panose="02020603050405020304" pitchFamily="18" charset="0"/>
                <a:cs typeface="Times New Roman" panose="02020603050405020304" pitchFamily="18" charset="0"/>
              </a:rPr>
              <a:t> The LCD display shows real-time stock levels and system status for local monitoring.</a:t>
            </a:r>
          </a:p>
          <a:p>
            <a:pPr>
              <a:lnSpc>
                <a:spcPct val="150000"/>
              </a:lnSpc>
              <a:buNone/>
            </a:pPr>
            <a:r>
              <a:rPr lang="en-US" sz="2000" b="1" dirty="0">
                <a:latin typeface="Times New Roman" panose="02020603050405020304" pitchFamily="18" charset="0"/>
                <a:cs typeface="Times New Roman" panose="02020603050405020304" pitchFamily="18" charset="0"/>
              </a:rPr>
              <a:t>Cloud Server :</a:t>
            </a:r>
            <a:r>
              <a:rPr lang="en-US" sz="2000" dirty="0">
                <a:latin typeface="Times New Roman" panose="02020603050405020304" pitchFamily="18" charset="0"/>
                <a:cs typeface="Times New Roman" panose="02020603050405020304" pitchFamily="18" charset="0"/>
              </a:rPr>
              <a:t> The cloud server stores and manages inventory data, allowing remote access and monitoring.</a:t>
            </a:r>
          </a:p>
          <a:p>
            <a:pPr>
              <a:lnSpc>
                <a:spcPct val="150000"/>
              </a:lnSpc>
              <a:buNone/>
            </a:pPr>
            <a:r>
              <a:rPr lang="en-US" sz="2000" b="1" dirty="0">
                <a:latin typeface="Times New Roman" panose="02020603050405020304" pitchFamily="18" charset="0"/>
                <a:cs typeface="Times New Roman" panose="02020603050405020304" pitchFamily="18" charset="0"/>
              </a:rPr>
              <a:t>Mobile Application :</a:t>
            </a:r>
            <a:r>
              <a:rPr lang="en-US" sz="2000" dirty="0">
                <a:latin typeface="Times New Roman" panose="02020603050405020304" pitchFamily="18" charset="0"/>
                <a:cs typeface="Times New Roman" panose="02020603050405020304" pitchFamily="18" charset="0"/>
              </a:rPr>
              <a:t> The mobile application allows users to view inventory details in real time from anywhere.</a:t>
            </a:r>
          </a:p>
          <a:p>
            <a:pPr>
              <a:lnSpc>
                <a:spcPct val="150000"/>
              </a:lnSpc>
              <a:buNone/>
            </a:pPr>
            <a:r>
              <a:rPr lang="en-US" sz="2000" b="1" dirty="0">
                <a:latin typeface="Times New Roman" panose="02020603050405020304" pitchFamily="18" charset="0"/>
                <a:cs typeface="Times New Roman" panose="02020603050405020304" pitchFamily="18" charset="0"/>
              </a:rPr>
              <a:t>Alert Notification :</a:t>
            </a:r>
            <a:r>
              <a:rPr lang="en-US" sz="2000" dirty="0">
                <a:latin typeface="Times New Roman" panose="02020603050405020304" pitchFamily="18" charset="0"/>
                <a:cs typeface="Times New Roman" panose="02020603050405020304" pitchFamily="18" charset="0"/>
              </a:rPr>
              <a:t> The system sends alerts when stock levels fall below a predefined threshold or when abnormal changes are detected.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F2BD4-4FA4-2004-0565-2540BC11AEE9}"/>
              </a:ext>
            </a:extLst>
          </p:cNvPr>
          <p:cNvSpPr>
            <a:spLocks noGrp="1"/>
          </p:cNvSpPr>
          <p:nvPr>
            <p:ph type="title"/>
          </p:nvPr>
        </p:nvSpPr>
        <p:spPr/>
        <p:txBody>
          <a:bodyPr/>
          <a:lstStyle/>
          <a:p>
            <a:r>
              <a:rPr lang="en-US" sz="4000" b="1" dirty="0">
                <a:solidFill>
                  <a:srgbClr val="C00000"/>
                </a:solidFill>
                <a:latin typeface="Times New Roman" panose="02020603050405020304" pitchFamily="18" charset="0"/>
                <a:cs typeface="Times New Roman" panose="02020603050405020304" pitchFamily="18" charset="0"/>
              </a:rPr>
              <a:t>         </a:t>
            </a:r>
            <a:r>
              <a:rPr lang="en-US" sz="4000" b="1" dirty="0">
                <a:solidFill>
                  <a:srgbClr val="FF0000"/>
                </a:solidFill>
                <a:latin typeface="Times New Roman" panose="02020603050405020304" pitchFamily="18" charset="0"/>
                <a:cs typeface="Times New Roman" panose="02020603050405020304" pitchFamily="18" charset="0"/>
              </a:rPr>
              <a:t>RESULTS</a:t>
            </a:r>
            <a:r>
              <a:rPr lang="en-US" b="1" dirty="0">
                <a:solidFill>
                  <a:srgbClr val="FF0000"/>
                </a:solidFill>
                <a:latin typeface="Times New Roman" panose="02020603050405020304" pitchFamily="18" charset="0"/>
                <a:cs typeface="Times New Roman" panose="02020603050405020304" pitchFamily="18" charset="0"/>
              </a:rPr>
              <a:t> AND DISCUSSION</a:t>
            </a:r>
            <a:endParaRPr lang="en-US" dirty="0">
              <a:solidFill>
                <a:srgbClr val="FF0000"/>
              </a:solidFill>
            </a:endParaRPr>
          </a:p>
        </p:txBody>
      </p:sp>
      <p:pic>
        <p:nvPicPr>
          <p:cNvPr id="6" name="Picture 5"/>
          <p:cNvPicPr>
            <a:picLocks noChangeAspect="1"/>
          </p:cNvPicPr>
          <p:nvPr/>
        </p:nvPicPr>
        <p:blipFill>
          <a:blip r:embed="rId2"/>
          <a:stretch>
            <a:fillRect/>
          </a:stretch>
        </p:blipFill>
        <p:spPr>
          <a:xfrm>
            <a:off x="0" y="1466980"/>
            <a:ext cx="5807968" cy="4963209"/>
          </a:xfrm>
          <a:prstGeom prst="rect">
            <a:avLst/>
          </a:prstGeom>
        </p:spPr>
      </p:pic>
      <p:pic>
        <p:nvPicPr>
          <p:cNvPr id="7" name="Picture 6"/>
          <p:cNvPicPr>
            <a:picLocks noChangeAspect="1"/>
          </p:cNvPicPr>
          <p:nvPr/>
        </p:nvPicPr>
        <p:blipFill>
          <a:blip r:embed="rId3"/>
          <a:stretch>
            <a:fillRect/>
          </a:stretch>
        </p:blipFill>
        <p:spPr>
          <a:xfrm>
            <a:off x="5951984" y="1466980"/>
            <a:ext cx="5977880" cy="4889370"/>
          </a:xfrm>
          <a:prstGeom prst="rect">
            <a:avLst/>
          </a:prstGeom>
        </p:spPr>
      </p:pic>
      <p:sp>
        <p:nvSpPr>
          <p:cNvPr id="4" name="Date Placeholder 3">
            <a:extLst>
              <a:ext uri="{FF2B5EF4-FFF2-40B4-BE49-F238E27FC236}">
                <a16:creationId xmlns:a16="http://schemas.microsoft.com/office/drawing/2014/main" id="{5DC505F0-EA80-AE25-C897-A78404175639}"/>
              </a:ext>
            </a:extLst>
          </p:cNvPr>
          <p:cNvSpPr>
            <a:spLocks noGrp="1"/>
          </p:cNvSpPr>
          <p:nvPr>
            <p:ph type="dt" idx="10"/>
          </p:nvPr>
        </p:nvSpPr>
        <p:spPr/>
        <p:txBody>
          <a:bodyPr/>
          <a:lstStyle/>
          <a:p>
            <a:fld id="{B3451B7D-A345-4862-BF1D-428F0ACE7489}" type="datetime3">
              <a:rPr lang="en-US" smtClean="0"/>
              <a:t>6 May 2026</a:t>
            </a:fld>
            <a:endParaRPr lang="en-US"/>
          </a:p>
        </p:txBody>
      </p:sp>
      <p:sp>
        <p:nvSpPr>
          <p:cNvPr id="5" name="Slide Number Placeholder 4">
            <a:extLst>
              <a:ext uri="{FF2B5EF4-FFF2-40B4-BE49-F238E27FC236}">
                <a16:creationId xmlns:a16="http://schemas.microsoft.com/office/drawing/2014/main" id="{86A50E13-17B8-2E22-4DF4-1747C43328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Tree>
    <p:extLst>
      <p:ext uri="{BB962C8B-B14F-4D97-AF65-F5344CB8AC3E}">
        <p14:creationId xmlns:p14="http://schemas.microsoft.com/office/powerpoint/2010/main" val="277075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42EF5-57C7-2416-7EAF-3D380C5E66B5}"/>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                  ADVANTAGES </a:t>
            </a:r>
          </a:p>
        </p:txBody>
      </p:sp>
      <p:sp>
        <p:nvSpPr>
          <p:cNvPr id="4" name="Date Placeholder 3">
            <a:extLst>
              <a:ext uri="{FF2B5EF4-FFF2-40B4-BE49-F238E27FC236}">
                <a16:creationId xmlns:a16="http://schemas.microsoft.com/office/drawing/2014/main" id="{064B449F-AF87-90DB-F60E-4DC94E66665C}"/>
              </a:ext>
            </a:extLst>
          </p:cNvPr>
          <p:cNvSpPr>
            <a:spLocks noGrp="1"/>
          </p:cNvSpPr>
          <p:nvPr>
            <p:ph type="dt" idx="10"/>
          </p:nvPr>
        </p:nvSpPr>
        <p:spPr/>
        <p:txBody>
          <a:bodyPr/>
          <a:lstStyle/>
          <a:p>
            <a:fld id="{B3451B7D-A345-4862-BF1D-428F0ACE7489}" type="datetime3">
              <a:rPr lang="en-US" smtClean="0"/>
              <a:t>6 May 2026</a:t>
            </a:fld>
            <a:endParaRPr lang="en-US"/>
          </a:p>
        </p:txBody>
      </p:sp>
      <p:sp>
        <p:nvSpPr>
          <p:cNvPr id="5" name="Slide Number Placeholder 4">
            <a:extLst>
              <a:ext uri="{FF2B5EF4-FFF2-40B4-BE49-F238E27FC236}">
                <a16:creationId xmlns:a16="http://schemas.microsoft.com/office/drawing/2014/main" id="{45969447-A01E-7410-ABB2-EDB1EFD4C1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
        <p:nvSpPr>
          <p:cNvPr id="6" name="Rectangle 1">
            <a:extLst>
              <a:ext uri="{FF2B5EF4-FFF2-40B4-BE49-F238E27FC236}">
                <a16:creationId xmlns:a16="http://schemas.microsoft.com/office/drawing/2014/main" id="{CDBB2523-FE30-63DC-E1DD-118F2F02F245}"/>
              </a:ext>
            </a:extLst>
          </p:cNvPr>
          <p:cNvSpPr>
            <a:spLocks noGrp="1" noChangeArrowheads="1"/>
          </p:cNvSpPr>
          <p:nvPr>
            <p:ph type="body" idx="1"/>
          </p:nvPr>
        </p:nvSpPr>
        <p:spPr bwMode="auto">
          <a:xfrm>
            <a:off x="1055440" y="1444467"/>
            <a:ext cx="606768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human effort (less manual work)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time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Gives accurate stock details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 (live updates)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access using mobile app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chances of errors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security using RFID (prevents theft)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stock update </a:t>
            </a:r>
          </a:p>
        </p:txBody>
      </p:sp>
    </p:spTree>
    <p:extLst>
      <p:ext uri="{BB962C8B-B14F-4D97-AF65-F5344CB8AC3E}">
        <p14:creationId xmlns:p14="http://schemas.microsoft.com/office/powerpoint/2010/main" val="3760893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7B00-4C82-6177-8154-F0DB40D4FD6D}"/>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                 APPLICATIONS</a:t>
            </a:r>
          </a:p>
        </p:txBody>
      </p:sp>
      <p:sp>
        <p:nvSpPr>
          <p:cNvPr id="3" name="Text Placeholder 2">
            <a:extLst>
              <a:ext uri="{FF2B5EF4-FFF2-40B4-BE49-F238E27FC236}">
                <a16:creationId xmlns:a16="http://schemas.microsoft.com/office/drawing/2014/main" id="{8E3A4F21-C4CF-2CC1-4943-8E0833ED7EEE}"/>
              </a:ext>
            </a:extLst>
          </p:cNvPr>
          <p:cNvSpPr>
            <a:spLocks noGrp="1"/>
          </p:cNvSpPr>
          <p:nvPr>
            <p:ph type="body" idx="1"/>
          </p:nvPr>
        </p:nvSpPr>
        <p:spPr/>
        <p:txBody>
          <a:bodyPr>
            <a:normAutofit fontScale="85000" lnSpcReduction="20000"/>
          </a:bodyPr>
          <a:lstStyle/>
          <a:p>
            <a:pPr>
              <a:lnSpc>
                <a:spcPct val="150000"/>
              </a:lnSpc>
            </a:pPr>
            <a:r>
              <a:rPr lang="en-US" dirty="0">
                <a:latin typeface="Times New Roman" panose="02020603050405020304" pitchFamily="18" charset="0"/>
                <a:cs typeface="Times New Roman" panose="02020603050405020304" pitchFamily="18" charset="0"/>
              </a:rPr>
              <a:t>Supermarkets and retail shops </a:t>
            </a:r>
          </a:p>
          <a:p>
            <a:pPr>
              <a:lnSpc>
                <a:spcPct val="150000"/>
              </a:lnSpc>
            </a:pPr>
            <a:r>
              <a:rPr lang="en-US" dirty="0">
                <a:latin typeface="Times New Roman" panose="02020603050405020304" pitchFamily="18" charset="0"/>
                <a:cs typeface="Times New Roman" panose="02020603050405020304" pitchFamily="18" charset="0"/>
              </a:rPr>
              <a:t>Warehouses </a:t>
            </a:r>
          </a:p>
          <a:p>
            <a:pPr>
              <a:lnSpc>
                <a:spcPct val="150000"/>
              </a:lnSpc>
            </a:pPr>
            <a:r>
              <a:rPr lang="en-US" dirty="0">
                <a:latin typeface="Times New Roman" panose="02020603050405020304" pitchFamily="18" charset="0"/>
                <a:cs typeface="Times New Roman" panose="02020603050405020304" pitchFamily="18" charset="0"/>
              </a:rPr>
              <a:t>Hospitals (medicine tracking) </a:t>
            </a:r>
          </a:p>
          <a:p>
            <a:pPr>
              <a:lnSpc>
                <a:spcPct val="150000"/>
              </a:lnSpc>
            </a:pPr>
            <a:r>
              <a:rPr lang="en-US" dirty="0">
                <a:latin typeface="Times New Roman" panose="02020603050405020304" pitchFamily="18" charset="0"/>
                <a:cs typeface="Times New Roman" panose="02020603050405020304" pitchFamily="18" charset="0"/>
              </a:rPr>
              <a:t>Industries and factories </a:t>
            </a:r>
          </a:p>
          <a:p>
            <a:pPr>
              <a:lnSpc>
                <a:spcPct val="150000"/>
              </a:lnSpc>
            </a:pPr>
            <a:r>
              <a:rPr lang="en-US" dirty="0">
                <a:latin typeface="Times New Roman" panose="02020603050405020304" pitchFamily="18" charset="0"/>
                <a:cs typeface="Times New Roman" panose="02020603050405020304" pitchFamily="18" charset="0"/>
              </a:rPr>
              <a:t>Libraries </a:t>
            </a:r>
          </a:p>
          <a:p>
            <a:pPr>
              <a:lnSpc>
                <a:spcPct val="150000"/>
              </a:lnSpc>
            </a:pPr>
            <a:r>
              <a:rPr lang="en-US" dirty="0">
                <a:latin typeface="Times New Roman" panose="02020603050405020304" pitchFamily="18" charset="0"/>
                <a:cs typeface="Times New Roman" panose="02020603050405020304" pitchFamily="18" charset="0"/>
              </a:rPr>
              <a:t>Shopping malls </a:t>
            </a:r>
          </a:p>
          <a:p>
            <a:pPr>
              <a:lnSpc>
                <a:spcPct val="150000"/>
              </a:lnSpc>
            </a:pPr>
            <a:r>
              <a:rPr lang="en-US" dirty="0">
                <a:latin typeface="Times New Roman" panose="02020603050405020304" pitchFamily="18" charset="0"/>
                <a:cs typeface="Times New Roman" panose="02020603050405020304" pitchFamily="18" charset="0"/>
              </a:rPr>
              <a:t>Storage and supply chain management </a:t>
            </a:r>
          </a:p>
          <a:p>
            <a:endParaRPr lang="en-US" dirty="0"/>
          </a:p>
        </p:txBody>
      </p:sp>
      <p:sp>
        <p:nvSpPr>
          <p:cNvPr id="4" name="Date Placeholder 3">
            <a:extLst>
              <a:ext uri="{FF2B5EF4-FFF2-40B4-BE49-F238E27FC236}">
                <a16:creationId xmlns:a16="http://schemas.microsoft.com/office/drawing/2014/main" id="{3BE5D7BF-94E2-F0CF-EC35-0185E275F0A4}"/>
              </a:ext>
            </a:extLst>
          </p:cNvPr>
          <p:cNvSpPr>
            <a:spLocks noGrp="1"/>
          </p:cNvSpPr>
          <p:nvPr>
            <p:ph type="dt" idx="10"/>
          </p:nvPr>
        </p:nvSpPr>
        <p:spPr/>
        <p:txBody>
          <a:bodyPr/>
          <a:lstStyle/>
          <a:p>
            <a:fld id="{B3451B7D-A345-4862-BF1D-428F0ACE7489}" type="datetime3">
              <a:rPr lang="en-US" smtClean="0"/>
              <a:t>6 May 2026</a:t>
            </a:fld>
            <a:endParaRPr lang="en-US"/>
          </a:p>
        </p:txBody>
      </p:sp>
      <p:sp>
        <p:nvSpPr>
          <p:cNvPr id="5" name="Slide Number Placeholder 4">
            <a:extLst>
              <a:ext uri="{FF2B5EF4-FFF2-40B4-BE49-F238E27FC236}">
                <a16:creationId xmlns:a16="http://schemas.microsoft.com/office/drawing/2014/main" id="{85846B06-DF42-4D9E-28E2-D63EF1E825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Tree>
    <p:extLst>
      <p:ext uri="{BB962C8B-B14F-4D97-AF65-F5344CB8AC3E}">
        <p14:creationId xmlns:p14="http://schemas.microsoft.com/office/powerpoint/2010/main" val="3081368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Times New Roman" pitchFamily="18" charset="0"/>
                <a:cs typeface="Times New Roman" pitchFamily="18" charset="0"/>
              </a:rPr>
              <a:t>CONCLUSION  &amp; FUTURE SCOPE</a:t>
            </a:r>
          </a:p>
        </p:txBody>
      </p:sp>
      <p:sp>
        <p:nvSpPr>
          <p:cNvPr id="3" name="Text Placeholder 2"/>
          <p:cNvSpPr>
            <a:spLocks noGrp="1"/>
          </p:cNvSpPr>
          <p:nvPr>
            <p:ph type="body" idx="1"/>
          </p:nvPr>
        </p:nvSpPr>
        <p:spPr>
          <a:xfrm>
            <a:off x="809588" y="1428736"/>
            <a:ext cx="10515600" cy="4929222"/>
          </a:xfrm>
        </p:spPr>
        <p:txBody>
          <a:bodyPr>
            <a:normAutofit fontScale="85000" lnSpcReduction="20000"/>
          </a:bodyPr>
          <a:lstStyle/>
          <a:p>
            <a:pPr algn="just">
              <a:lnSpc>
                <a:spcPct val="150000"/>
              </a:lnSpc>
            </a:pPr>
            <a:r>
              <a:rPr lang="en-US" sz="2400" dirty="0">
                <a:latin typeface="Times New Roman" pitchFamily="18" charset="0"/>
                <a:cs typeface="Times New Roman" pitchFamily="18" charset="0"/>
              </a:rPr>
              <a:t>Smart </a:t>
            </a:r>
            <a:r>
              <a:rPr lang="en-US" sz="2400" dirty="0" err="1">
                <a:latin typeface="Times New Roman" pitchFamily="18" charset="0"/>
                <a:cs typeface="Times New Roman" pitchFamily="18" charset="0"/>
              </a:rPr>
              <a:t>IoT</a:t>
            </a:r>
            <a:r>
              <a:rPr lang="en-US" sz="2400" dirty="0">
                <a:latin typeface="Times New Roman" pitchFamily="18" charset="0"/>
                <a:cs typeface="Times New Roman" pitchFamily="18" charset="0"/>
              </a:rPr>
              <a:t> system enables automatic inventory monitoring</a:t>
            </a:r>
          </a:p>
          <a:p>
            <a:pPr algn="just">
              <a:lnSpc>
                <a:spcPct val="150000"/>
              </a:lnSpc>
            </a:pPr>
            <a:r>
              <a:rPr lang="en-US" sz="2400" dirty="0">
                <a:latin typeface="Times New Roman" pitchFamily="18" charset="0"/>
                <a:cs typeface="Times New Roman" pitchFamily="18" charset="0"/>
              </a:rPr>
              <a:t> Load cell ensure  accurate tracking and identification</a:t>
            </a:r>
          </a:p>
          <a:p>
            <a:pPr algn="just">
              <a:lnSpc>
                <a:spcPct val="150000"/>
              </a:lnSpc>
            </a:pPr>
            <a:r>
              <a:rPr lang="en-US" sz="2400" dirty="0">
                <a:latin typeface="Times New Roman" pitchFamily="18" charset="0"/>
                <a:cs typeface="Times New Roman" pitchFamily="18" charset="0"/>
              </a:rPr>
              <a:t>ESP8266 microcontroller provides real-time updates</a:t>
            </a:r>
          </a:p>
          <a:p>
            <a:pPr algn="just">
              <a:lnSpc>
                <a:spcPct val="150000"/>
              </a:lnSpc>
            </a:pPr>
            <a:r>
              <a:rPr lang="en-US" sz="2400" dirty="0">
                <a:latin typeface="Times New Roman" pitchFamily="18" charset="0"/>
                <a:cs typeface="Times New Roman" pitchFamily="18" charset="0"/>
              </a:rPr>
              <a:t> Reduces manual effort and improves efficiency</a:t>
            </a:r>
          </a:p>
          <a:p>
            <a:pPr algn="just">
              <a:lnSpc>
                <a:spcPct val="150000"/>
              </a:lnSpc>
              <a:buNone/>
            </a:pPr>
            <a:r>
              <a:rPr lang="en-US" sz="2400" b="1" u="sng" dirty="0">
                <a:latin typeface="Times New Roman" pitchFamily="18" charset="0"/>
                <a:cs typeface="Times New Roman" pitchFamily="18" charset="0"/>
              </a:rPr>
              <a:t>FUTURE SCOPE</a:t>
            </a:r>
          </a:p>
          <a:p>
            <a:pPr algn="just">
              <a:lnSpc>
                <a:spcPct val="150000"/>
              </a:lnSpc>
            </a:pPr>
            <a:r>
              <a:rPr lang="en-US" sz="2400" dirty="0">
                <a:latin typeface="Times New Roman" pitchFamily="18" charset="0"/>
                <a:cs typeface="Times New Roman" pitchFamily="18" charset="0"/>
              </a:rPr>
              <a:t>AI-based demand prediction</a:t>
            </a:r>
          </a:p>
          <a:p>
            <a:pPr algn="just">
              <a:lnSpc>
                <a:spcPct val="150000"/>
              </a:lnSpc>
            </a:pPr>
            <a:r>
              <a:rPr lang="en-US" sz="2400" dirty="0">
                <a:latin typeface="Times New Roman" pitchFamily="18" charset="0"/>
                <a:cs typeface="Times New Roman" pitchFamily="18" charset="0"/>
              </a:rPr>
              <a:t> Automatic restocking system </a:t>
            </a:r>
          </a:p>
          <a:p>
            <a:pPr algn="just">
              <a:lnSpc>
                <a:spcPct val="150000"/>
              </a:lnSpc>
            </a:pPr>
            <a:r>
              <a:rPr lang="en-US" sz="2400" dirty="0">
                <a:latin typeface="Times New Roman" pitchFamily="18" charset="0"/>
                <a:cs typeface="Times New Roman" pitchFamily="18" charset="0"/>
              </a:rPr>
              <a:t>Advanced mobile app features</a:t>
            </a:r>
          </a:p>
          <a:p>
            <a:pPr algn="just">
              <a:lnSpc>
                <a:spcPct val="150000"/>
              </a:lnSpc>
            </a:pPr>
            <a:r>
              <a:rPr lang="en-US" sz="2400" dirty="0">
                <a:latin typeface="Times New Roman" pitchFamily="18" charset="0"/>
                <a:cs typeface="Times New Roman" pitchFamily="18" charset="0"/>
              </a:rPr>
              <a:t> Integration with supply chain systems</a:t>
            </a:r>
            <a:endParaRPr lang="en-US" sz="2400" b="1" u="sng" dirty="0">
              <a:latin typeface="Times New Roman" pitchFamily="18" charset="0"/>
              <a:cs typeface="Times New Roman" pitchFamily="18" charset="0"/>
            </a:endParaRPr>
          </a:p>
        </p:txBody>
      </p:sp>
      <p:sp>
        <p:nvSpPr>
          <p:cNvPr id="4" name="Date Placeholder 3"/>
          <p:cNvSpPr>
            <a:spLocks noGrp="1"/>
          </p:cNvSpPr>
          <p:nvPr>
            <p:ph type="dt" idx="10"/>
          </p:nvPr>
        </p:nvSpPr>
        <p:spPr/>
        <p:txBody>
          <a:bodyPr/>
          <a:lstStyle/>
          <a:p>
            <a:fld id="{B40D95C6-1A96-4665-858C-6F19B2E94171}"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hlinkClick r:id="rId2" action="ppaction://hlinkfile"/>
          </p:cNvPr>
          <p:cNvSpPr txBox="1"/>
          <p:nvPr/>
        </p:nvSpPr>
        <p:spPr>
          <a:xfrm>
            <a:off x="3792220" y="2420620"/>
            <a:ext cx="5666105" cy="1568450"/>
          </a:xfrm>
          <a:prstGeom prst="rect">
            <a:avLst/>
          </a:prstGeom>
          <a:noFill/>
        </p:spPr>
        <p:txBody>
          <a:bodyPr wrap="square" rtlCol="0">
            <a:spAutoFit/>
          </a:bodyPr>
          <a:lstStyle/>
          <a:p>
            <a:r>
              <a:rPr lang="en-US" sz="9600">
                <a:latin typeface="Brush Script MT" panose="03060802040406070304" charset="0"/>
                <a:cs typeface="Brush Script MT" panose="03060802040406070304" charset="0"/>
              </a:rPr>
              <a:t>Thank you!</a:t>
            </a:r>
          </a:p>
        </p:txBody>
      </p:sp>
      <p:sp>
        <p:nvSpPr>
          <p:cNvPr id="3" name="Date Placeholder 2"/>
          <p:cNvSpPr>
            <a:spLocks noGrp="1"/>
          </p:cNvSpPr>
          <p:nvPr>
            <p:ph type="dt" idx="10"/>
          </p:nvPr>
        </p:nvSpPr>
        <p:spPr/>
        <p:txBody>
          <a:bodyPr/>
          <a:lstStyle/>
          <a:p>
            <a:fld id="{E5B7D7DF-0705-4508-B485-C04FCBEAEC68}" type="datetime3">
              <a:rPr lang="en-US" smtClean="0">
                <a:latin typeface="Times New Roman" pitchFamily="18" charset="0"/>
                <a:cs typeface="Times New Roman" pitchFamily="18" charset="0"/>
              </a:rPr>
              <a:t>6 May 2026</a:t>
            </a:fld>
            <a:endParaRPr lang="en-US"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1108</Words>
  <Application>Microsoft Office PowerPoint</Application>
  <PresentationFormat>Widescreen</PresentationFormat>
  <Paragraphs>140</Paragraphs>
  <Slides>16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Brush Script MT</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                    EXISTING SYSTEM</vt:lpstr>
      <vt:lpstr>          CHALLENGES IN  EXISTING SYSTEM</vt:lpstr>
      <vt:lpstr>PowerPoint Presentation</vt:lpstr>
      <vt:lpstr>PowerPoint Presentation</vt:lpstr>
      <vt:lpstr>PowerPoint Presentation</vt:lpstr>
      <vt:lpstr>PowerPoint Presentation</vt:lpstr>
      <vt:lpstr>         RESULTS AND DISCUSSION</vt:lpstr>
      <vt:lpstr>                  ADVANTAGES </vt:lpstr>
      <vt:lpstr>                 APPLICATIONS</vt:lpstr>
      <vt:lpstr>CONCLUSION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shruthi ravi</dc:creator>
  <cp:lastModifiedBy>shruthi ravi</cp:lastModifiedBy>
  <cp:revision>23</cp:revision>
  <dcterms:created xsi:type="dcterms:W3CDTF">2026-02-16T18:01:58Z</dcterms:created>
  <dcterms:modified xsi:type="dcterms:W3CDTF">2026-05-06T16:50:32Z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54952A58399D4B2A9B518101BEE435E1_12</vt:lpwstr>
  </property>
  <property fmtid="{D5CDD505-2E9C-101B-9397-08002B2CF9AE}" pid="3" name="KSOProductBuildVer">
    <vt:lpwstr>1033-12.2.0.23155</vt:lpwstr>
  </property>
</Properties>
</file>